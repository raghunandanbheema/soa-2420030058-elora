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62" r:id="rId2"/>
    <p:sldId id="908" r:id="rId3"/>
    <p:sldId id="909" r:id="rId4"/>
    <p:sldId id="257" r:id="rId5"/>
    <p:sldId id="904" r:id="rId6"/>
    <p:sldId id="910" r:id="rId7"/>
    <p:sldId id="906" r:id="rId8"/>
    <p:sldId id="90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AED"/>
    <a:srgbClr val="CCD2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10/1/2026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600334884"/>
              </p:ext>
            </p:extLst>
          </p:nvPr>
        </p:nvGraphicFramePr>
        <p:xfrm>
          <a:off x="7651750" y="3665793"/>
          <a:ext cx="5049266" cy="1219200"/>
        </p:xfrm>
        <a:graphic>
          <a:graphicData uri="http://schemas.openxmlformats.org/drawingml/2006/table">
            <a:tbl>
              <a:tblPr firstRow="1" bandRow="1">
                <a:tableStyleId>{5940675A-B579-460E-94D1-54222C63F5DA}</a:tableStyleId>
              </a:tblPr>
              <a:tblGrid>
                <a:gridCol w="5049266">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1" dirty="0">
                          <a:solidFill>
                            <a:srgbClr val="C00000"/>
                          </a:solidFill>
                          <a:latin typeface="Montserrat" pitchFamily="2" charset="0"/>
                          <a:cs typeface="Times New Roman" panose="02020603050405020304" pitchFamily="18" charset="0"/>
                        </a:rPr>
                        <a:t>Team Members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latin typeface="Montserrat" pitchFamily="2" charset="0"/>
                          <a:ea typeface="Cambria"/>
                          <a:cs typeface="Times New Roman" panose="02020603050405020304" pitchFamily="18" charset="0"/>
                        </a:rPr>
                        <a:t>C Pravin Sai – 2420030777</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latin typeface="Montserrat" pitchFamily="2" charset="0"/>
                          <a:ea typeface="Cambria"/>
                          <a:cs typeface="Times New Roman" panose="02020603050405020304" pitchFamily="18" charset="0"/>
                        </a:rPr>
                        <a:t>B Raghu Nandan – 2420030058</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latin typeface="Montserrat" pitchFamily="2" charset="0"/>
                          <a:ea typeface="Cambria"/>
                          <a:cs typeface="Times New Roman" panose="02020603050405020304" pitchFamily="18" charset="0"/>
                        </a:rPr>
                        <a:t>J Hemanth Krishna - 2420039805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7496758" y="3532842"/>
            <a:ext cx="314027"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latin typeface="Montserrat" pitchFamily="2" charset="0"/>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Montserrat" pitchFamily="2" charset="0"/>
              </a:endParaRPr>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09135628"/>
              </p:ext>
            </p:extLst>
          </p:nvPr>
        </p:nvGraphicFramePr>
        <p:xfrm>
          <a:off x="-182880" y="3461555"/>
          <a:ext cx="6473952" cy="1976120"/>
        </p:xfrm>
        <a:graphic>
          <a:graphicData uri="http://schemas.openxmlformats.org/drawingml/2006/table">
            <a:tbl>
              <a:tblPr firstRow="1" bandRow="1">
                <a:tableStyleId>{5940675A-B579-460E-94D1-54222C63F5DA}</a:tableStyleId>
              </a:tblPr>
              <a:tblGrid>
                <a:gridCol w="1506592">
                  <a:extLst>
                    <a:ext uri="{9D8B030D-6E8A-4147-A177-3AD203B41FA5}">
                      <a16:colId xmlns:a16="http://schemas.microsoft.com/office/drawing/2014/main" val="40058472"/>
                    </a:ext>
                  </a:extLst>
                </a:gridCol>
                <a:gridCol w="4967360">
                  <a:extLst>
                    <a:ext uri="{9D8B030D-6E8A-4147-A177-3AD203B41FA5}">
                      <a16:colId xmlns:a16="http://schemas.microsoft.com/office/drawing/2014/main" val="1330242319"/>
                    </a:ext>
                  </a:extLst>
                </a:gridCol>
              </a:tblGrid>
              <a:tr h="1332118">
                <a:tc>
                  <a:txBody>
                    <a:bodyPr/>
                    <a:lstStyle/>
                    <a:p>
                      <a:endParaRPr lang="en-IN" sz="2400" dirty="0">
                        <a:latin typeface="Montserrat" pitchFamily="2"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700" b="1" dirty="0">
                        <a:solidFill>
                          <a:srgbClr val="C00000"/>
                        </a:solidFill>
                        <a:latin typeface="Montserrat" pitchFamily="2" charset="0"/>
                        <a:cs typeface="Times New Roman" panose="02020603050405020304" pitchFamily="18" charset="0"/>
                      </a:endParaRPr>
                    </a:p>
                    <a:p>
                      <a:r>
                        <a:rPr lang="en-IN" sz="2000" b="1" dirty="0">
                          <a:solidFill>
                            <a:srgbClr val="C00000"/>
                          </a:solidFill>
                          <a:latin typeface="Montserrat" pitchFamily="2" charset="0"/>
                          <a:cs typeface="Times New Roman" panose="02020603050405020304" pitchFamily="18" charset="0"/>
                        </a:rPr>
                        <a:t>Under the Guidance of</a:t>
                      </a:r>
                    </a:p>
                    <a:p>
                      <a:pPr marL="0" indent="0" algn="l">
                        <a:lnSpc>
                          <a:spcPct val="100000"/>
                        </a:lnSpc>
                        <a:spcBef>
                          <a:spcPts val="200"/>
                        </a:spcBef>
                        <a:buSzPts val="810"/>
                        <a:buNone/>
                      </a:pPr>
                      <a:r>
                        <a:rPr lang="en-US" sz="1800" b="1" dirty="0">
                          <a:solidFill>
                            <a:schemeClr val="dk1"/>
                          </a:solidFill>
                          <a:latin typeface="Montserrat" pitchFamily="2" charset="0"/>
                          <a:ea typeface="Cambria"/>
                          <a:cs typeface="Times New Roman" panose="02020603050405020304" pitchFamily="18" charset="0"/>
                          <a:sym typeface="Cambria"/>
                        </a:rPr>
                        <a:t>Mrs. R. Navyatha</a:t>
                      </a:r>
                    </a:p>
                    <a:p>
                      <a:pPr marL="0" indent="0" algn="l">
                        <a:lnSpc>
                          <a:spcPct val="100000"/>
                        </a:lnSpc>
                        <a:spcBef>
                          <a:spcPts val="200"/>
                        </a:spcBef>
                        <a:buSzPts val="810"/>
                        <a:buNone/>
                      </a:pPr>
                      <a:r>
                        <a:rPr lang="en-US" sz="1800" dirty="0">
                          <a:solidFill>
                            <a:schemeClr val="dk1"/>
                          </a:solidFill>
                          <a:latin typeface="Montserrat" pitchFamily="2"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800" b="1" dirty="0">
                          <a:solidFill>
                            <a:schemeClr val="dk1"/>
                          </a:solidFill>
                          <a:latin typeface="Montserrat" pitchFamily="2" charset="0"/>
                          <a:ea typeface="Cambria"/>
                          <a:cs typeface="Times New Roman" panose="02020603050405020304" pitchFamily="18" charset="0"/>
                          <a:sym typeface="Cambria"/>
                        </a:rPr>
                        <a:t>Department of </a:t>
                      </a:r>
                      <a:r>
                        <a:rPr lang="en-US" sz="1800" b="1" dirty="0">
                          <a:solidFill>
                            <a:prstClr val="black"/>
                          </a:solidFill>
                          <a:latin typeface="Montserrat" pitchFamily="2"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800" dirty="0">
                          <a:solidFill>
                            <a:schemeClr val="dk1"/>
                          </a:solidFill>
                          <a:latin typeface="Montserrat" pitchFamily="2" charset="0"/>
                          <a:ea typeface="Cambria"/>
                          <a:cs typeface="Times New Roman" panose="02020603050405020304" pitchFamily="18" charset="0"/>
                          <a:sym typeface="Cambria"/>
                        </a:rPr>
                        <a:t>KLH CSE Bowrampet Campus</a:t>
                      </a:r>
                      <a:endParaRPr lang="en-US" sz="1800" dirty="0">
                        <a:solidFill>
                          <a:schemeClr val="dk1"/>
                        </a:solidFill>
                        <a:latin typeface="Montserrat" pitchFamily="2"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1164894" y="3268216"/>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000" dirty="0">
                <a:highlight>
                  <a:srgbClr val="FFFF00"/>
                </a:highlight>
                <a:latin typeface="Montserrat" pitchFamily="2" charset="0"/>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000" dirty="0">
                <a:latin typeface="Montserrat" pitchFamily="2" charset="0"/>
              </a:endParaRPr>
            </a:p>
          </p:txBody>
        </p:sp>
      </p:gr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latin typeface="Montserrat" pitchFamily="2" charset="0"/>
              </a:rPr>
              <a:t>1</a:t>
            </a:fld>
            <a:endParaRPr lang="en-IN" dirty="0">
              <a:latin typeface="Montserrat" pitchFamily="2" charset="0"/>
            </a:endParaRPr>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3" y="668789"/>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Montserrat" pitchFamily="2"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Montserrat" pitchFamily="2" charset="0"/>
              <a:cs typeface="Times New Roman" panose="02020603050405020304" pitchFamily="18" charset="0"/>
            </a:endParaRPr>
          </a:p>
          <a:p>
            <a:pPr algn="ctr"/>
            <a:endParaRPr lang="en-IN" dirty="0">
              <a:latin typeface="Montserrat" pitchFamily="2"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5" y="713011"/>
            <a:ext cx="10715625" cy="954107"/>
          </a:xfrm>
          <a:prstGeom prst="rect">
            <a:avLst/>
          </a:prstGeom>
          <a:noFill/>
        </p:spPr>
        <p:txBody>
          <a:bodyPr wrap="square">
            <a:spAutoFit/>
          </a:bodyPr>
          <a:lstStyle/>
          <a:p>
            <a:pPr lvl="1" algn="ctr">
              <a:defRPr/>
            </a:pPr>
            <a:r>
              <a:rPr lang="en-IN" sz="2800" b="1" dirty="0">
                <a:solidFill>
                  <a:schemeClr val="bg1"/>
                </a:solidFill>
                <a:latin typeface="Montserrat" pitchFamily="2" charset="0"/>
                <a:cs typeface="Times New Roman" panose="02020603050405020304" pitchFamily="18" charset="0"/>
              </a:rPr>
              <a:t>E.L.O.R.A – Employee Leave Orchestration and Resource Administration</a:t>
            </a:r>
            <a:endParaRPr kumimoji="0" lang="en-US" sz="3600" b="0" i="0" u="none" strike="noStrike" kern="1200" cap="none" spc="0" normalizeH="0" baseline="0" noProof="0" dirty="0">
              <a:ln>
                <a:noFill/>
              </a:ln>
              <a:solidFill>
                <a:schemeClr val="bg1"/>
              </a:solidFill>
              <a:effectLst/>
              <a:uLnTx/>
              <a:uFillTx/>
              <a:latin typeface="Montserrat" pitchFamily="2" charset="0"/>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638175" y="2025350"/>
            <a:ext cx="10715625" cy="584775"/>
          </a:xfrm>
          <a:prstGeom prst="rect">
            <a:avLst/>
          </a:prstGeom>
          <a:noFill/>
        </p:spPr>
        <p:txBody>
          <a:bodyPr wrap="square">
            <a:spAutoFit/>
          </a:bodyPr>
          <a:lstStyle/>
          <a:p>
            <a:pPr lvl="0" algn="ctr">
              <a:defRPr/>
            </a:pPr>
            <a:r>
              <a:rPr lang="en-IN" sz="3200" b="1" dirty="0">
                <a:latin typeface="Montserrat" pitchFamily="2" charset="0"/>
                <a:cs typeface="Times New Roman" panose="02020603050405020304" pitchFamily="18" charset="0"/>
              </a:rPr>
              <a:t>SOA Project Review - 2 </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638820" y="409660"/>
            <a:ext cx="4914359" cy="646331"/>
          </a:xfrm>
          <a:prstGeom prst="rect">
            <a:avLst/>
          </a:prstGeom>
          <a:noFill/>
        </p:spPr>
        <p:txBody>
          <a:bodyPr wrap="square">
            <a:spAutoFit/>
          </a:bodyPr>
          <a:lstStyle/>
          <a:p>
            <a:r>
              <a:rPr lang="en-US" sz="3600" b="1" dirty="0">
                <a:latin typeface="Montserrat" pitchFamily="2" charset="0"/>
              </a:rPr>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914400" y="1476510"/>
            <a:ext cx="10058400" cy="621709"/>
          </a:xfrm>
          <a:prstGeom prst="rect">
            <a:avLst/>
          </a:prstGeom>
          <a:noFill/>
        </p:spPr>
        <p:txBody>
          <a:bodyPr wrap="square" lIns="45720" tIns="18288" rIns="45720" bIns="18288">
            <a:spAutoFit/>
          </a:bodyPr>
          <a:lstStyle/>
          <a:p>
            <a:pPr algn="ctr"/>
            <a:r>
              <a:rPr sz="1900" b="1" dirty="0">
                <a:solidFill>
                  <a:srgbClr val="1271B9"/>
                </a:solidFill>
                <a:latin typeface="Montserrat" pitchFamily="2" charset="0"/>
              </a:rPr>
              <a:t>Organizations need a structured way for employees to request leave and managers to approve or reject requests.</a:t>
            </a:r>
          </a:p>
        </p:txBody>
      </p:sp>
      <p:sp>
        <p:nvSpPr>
          <p:cNvPr id="7" name="TextBox 6"/>
          <p:cNvSpPr txBox="1"/>
          <p:nvPr/>
        </p:nvSpPr>
        <p:spPr>
          <a:xfrm>
            <a:off x="1112520" y="2254143"/>
            <a:ext cx="10058400" cy="2806922"/>
          </a:xfrm>
          <a:prstGeom prst="rect">
            <a:avLst/>
          </a:prstGeom>
          <a:noFill/>
        </p:spPr>
        <p:txBody>
          <a:bodyPr wrap="square" lIns="45720" tIns="18288" rIns="45720" bIns="18288">
            <a:spAutoFit/>
          </a:bodyPr>
          <a:lstStyle/>
          <a:p>
            <a:pPr algn="just">
              <a:spcAft>
                <a:spcPts val="700"/>
              </a:spcAft>
              <a:defRPr sz="1700">
                <a:solidFill>
                  <a:srgbClr val="191919"/>
                </a:solidFill>
                <a:latin typeface="Aptos"/>
              </a:defRPr>
            </a:pPr>
            <a:r>
              <a:rPr lang="en-US" sz="2000" dirty="0">
                <a:latin typeface="Montserrat" pitchFamily="2" charset="0"/>
              </a:rPr>
              <a:t>Organizations need a structured and reliable way for employees to submit leave requests with valid dates and reasons, while managers need an efficient process to review, approve, or reject those requests. The system requires secure authentication and role-based authorization to protect leave operations. A monolithic implementation can tightly couple identity, employee data, leave processing, and notifications, making the system difficult to maintain and scale. Therefore, the proposed system separates these capabilities into independent microservices, providing a secure, structured, and decoupled approach to leave management.</a:t>
            </a:r>
            <a:endParaRPr sz="2000" dirty="0">
              <a:latin typeface="Montserrat" pitchFamily="2" charset="0"/>
            </a:endParaRPr>
          </a:p>
        </p:txBody>
      </p:sp>
      <p:sp>
        <p:nvSpPr>
          <p:cNvPr id="8" name="TextBox 7"/>
          <p:cNvSpPr txBox="1"/>
          <p:nvPr/>
        </p:nvSpPr>
        <p:spPr>
          <a:xfrm>
            <a:off x="1021080" y="5283001"/>
            <a:ext cx="10058400" cy="313932"/>
          </a:xfrm>
          <a:prstGeom prst="rect">
            <a:avLst/>
          </a:prstGeom>
          <a:noFill/>
        </p:spPr>
        <p:txBody>
          <a:bodyPr wrap="square" lIns="45720" tIns="18288" rIns="45720" bIns="18288">
            <a:spAutoFit/>
          </a:bodyPr>
          <a:lstStyle/>
          <a:p>
            <a:pPr algn="ctr"/>
            <a:r>
              <a:rPr sz="1800" b="1" dirty="0">
                <a:solidFill>
                  <a:srgbClr val="191919"/>
                </a:solidFill>
                <a:latin typeface="Montserrat" pitchFamily="2" charset="0"/>
              </a:rPr>
              <a:t>Core problem: secure, structured and decoupled leave management.</a:t>
            </a:r>
          </a:p>
        </p:txBody>
      </p:sp>
    </p:spTree>
    <p:extLst>
      <p:ext uri="{BB962C8B-B14F-4D97-AF65-F5344CB8AC3E}">
        <p14:creationId xmlns:p14="http://schemas.microsoft.com/office/powerpoint/2010/main" val="9296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334F6E-7794-377B-4BD0-951C802B9F47}"/>
              </a:ext>
            </a:extLst>
          </p:cNvPr>
          <p:cNvSpPr>
            <a:spLocks noGrp="1"/>
          </p:cNvSpPr>
          <p:nvPr>
            <p:ph idx="1"/>
          </p:nvPr>
        </p:nvSpPr>
        <p:spPr>
          <a:xfrm>
            <a:off x="902208" y="1523873"/>
            <a:ext cx="10515600" cy="4351338"/>
          </a:xfrm>
        </p:spPr>
        <p:txBody>
          <a:bodyPr>
            <a:normAutofit/>
          </a:bodyPr>
          <a:lstStyle/>
          <a:p>
            <a:pPr>
              <a:spcAft>
                <a:spcPts val="300"/>
              </a:spcAft>
              <a:defRPr sz="1600">
                <a:solidFill>
                  <a:srgbClr val="191919"/>
                </a:solidFill>
                <a:latin typeface="Aptos"/>
              </a:defRPr>
            </a:pPr>
            <a:r>
              <a:rPr lang="en-US" sz="2400" dirty="0">
                <a:latin typeface="Montserrat" pitchFamily="2" charset="0"/>
              </a:rPr>
              <a:t>Implement independent microservices for Authentication, Employee, Leave, and Notification.</a:t>
            </a:r>
          </a:p>
          <a:p>
            <a:pPr>
              <a:spcAft>
                <a:spcPts val="300"/>
              </a:spcAft>
              <a:defRPr sz="1600">
                <a:solidFill>
                  <a:srgbClr val="191919"/>
                </a:solidFill>
                <a:latin typeface="Aptos"/>
              </a:defRPr>
            </a:pPr>
            <a:r>
              <a:rPr lang="en-US" sz="2400" dirty="0">
                <a:latin typeface="Montserrat" pitchFamily="2" charset="0"/>
              </a:rPr>
              <a:t>Secure the system using JWT authentication and role-based access control for employees, managers, and administrators.</a:t>
            </a:r>
          </a:p>
          <a:p>
            <a:pPr>
              <a:spcAft>
                <a:spcPts val="300"/>
              </a:spcAft>
              <a:defRPr sz="1600">
                <a:solidFill>
                  <a:srgbClr val="191919"/>
                </a:solidFill>
                <a:latin typeface="Aptos"/>
              </a:defRPr>
            </a:pPr>
            <a:r>
              <a:rPr lang="en-US" sz="2400" dirty="0">
                <a:latin typeface="Montserrat" pitchFamily="2" charset="0"/>
              </a:rPr>
              <a:t>Implement the complete leave lifecycle including application, validation, approval/rejection, history, and event-based notifications using REST and Kafka.</a:t>
            </a:r>
          </a:p>
          <a:p>
            <a:pPr>
              <a:spcAft>
                <a:spcPts val="300"/>
              </a:spcAft>
              <a:defRPr sz="1600">
                <a:solidFill>
                  <a:srgbClr val="191919"/>
                </a:solidFill>
                <a:latin typeface="Aptos"/>
              </a:defRPr>
            </a:pPr>
            <a:r>
              <a:rPr lang="en-US" sz="2400" dirty="0">
                <a:latin typeface="Montserrat" pitchFamily="2" charset="0"/>
              </a:rPr>
              <a:t>Maintain database ownership per service and validate the system through integration testing, Postman, security checks, and CI workflows.</a:t>
            </a:r>
            <a:endParaRPr lang="en-IN" sz="2400" dirty="0"/>
          </a:p>
        </p:txBody>
      </p:sp>
      <p:sp>
        <p:nvSpPr>
          <p:cNvPr id="5" name="TextBox 4">
            <a:extLst>
              <a:ext uri="{FF2B5EF4-FFF2-40B4-BE49-F238E27FC236}">
                <a16:creationId xmlns:a16="http://schemas.microsoft.com/office/drawing/2014/main" id="{05ACAA64-FB5E-60C2-9532-C2086C6FF053}"/>
              </a:ext>
            </a:extLst>
          </p:cNvPr>
          <p:cNvSpPr txBox="1"/>
          <p:nvPr/>
        </p:nvSpPr>
        <p:spPr>
          <a:xfrm>
            <a:off x="4703064" y="486316"/>
            <a:ext cx="2785872" cy="646331"/>
          </a:xfrm>
          <a:prstGeom prst="rect">
            <a:avLst/>
          </a:prstGeom>
          <a:noFill/>
        </p:spPr>
        <p:txBody>
          <a:bodyPr wrap="square">
            <a:spAutoFit/>
          </a:bodyPr>
          <a:lstStyle/>
          <a:p>
            <a:pPr algn="ctr"/>
            <a:r>
              <a:rPr lang="en-US" sz="3600" b="1" dirty="0">
                <a:latin typeface="Montserrat" pitchFamily="2" charset="0"/>
              </a:rPr>
              <a:t>Objectives</a:t>
            </a:r>
          </a:p>
        </p:txBody>
      </p:sp>
      <p:pic>
        <p:nvPicPr>
          <p:cNvPr id="7" name="Picture 6">
            <a:extLst>
              <a:ext uri="{FF2B5EF4-FFF2-40B4-BE49-F238E27FC236}">
                <a16:creationId xmlns:a16="http://schemas.microsoft.com/office/drawing/2014/main" id="{7D3D5BE9-8B27-90BB-6617-1223784C29A6}"/>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622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580908" y="482812"/>
            <a:ext cx="4914359" cy="646331"/>
          </a:xfrm>
          <a:prstGeom prst="rect">
            <a:avLst/>
          </a:prstGeom>
          <a:noFill/>
        </p:spPr>
        <p:txBody>
          <a:bodyPr wrap="square">
            <a:spAutoFit/>
          </a:bodyPr>
          <a:lstStyle/>
          <a:p>
            <a:pPr algn="ctr"/>
            <a:r>
              <a:rPr lang="en-US" sz="3600" b="1" dirty="0">
                <a:latin typeface="Montserrat" pitchFamily="2" charset="0"/>
              </a:rPr>
              <a:t>PROJECT DESIGN</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905255" y="1531374"/>
            <a:ext cx="10265664" cy="4715137"/>
          </a:xfrm>
          <a:prstGeom prst="rect">
            <a:avLst/>
          </a:prstGeom>
          <a:noFill/>
        </p:spPr>
        <p:txBody>
          <a:bodyPr wrap="square" lIns="45720" tIns="18288" rIns="45720" bIns="18288">
            <a:spAutoFit/>
          </a:bodyPr>
          <a:lstStyle/>
          <a:p>
            <a:pPr algn="just"/>
            <a:r>
              <a:rPr lang="en-IN" sz="1900" dirty="0">
                <a:latin typeface="Montserrat" pitchFamily="2" charset="0"/>
              </a:rPr>
              <a:t>The </a:t>
            </a:r>
            <a:r>
              <a:rPr lang="en-IN" sz="1900" b="1" dirty="0">
                <a:latin typeface="Montserrat" pitchFamily="2" charset="0"/>
              </a:rPr>
              <a:t>Leave Management System</a:t>
            </a:r>
            <a:r>
              <a:rPr lang="en-IN" sz="1900" dirty="0">
                <a:latin typeface="Montserrat" pitchFamily="2" charset="0"/>
              </a:rPr>
              <a:t> is designed as a service-oriented microservices application for the Recruitment &amp; HR domain. The system separates the major business functions into four independent services: </a:t>
            </a:r>
            <a:r>
              <a:rPr lang="en-IN" sz="1900" b="1" dirty="0">
                <a:latin typeface="Montserrat" pitchFamily="2" charset="0"/>
              </a:rPr>
              <a:t>User/Authentication Service, Employee Service, Leave Service, and Notification Service</a:t>
            </a:r>
            <a:r>
              <a:rPr lang="en-IN" sz="1900" dirty="0">
                <a:latin typeface="Montserrat" pitchFamily="2" charset="0"/>
              </a:rPr>
              <a:t>. The User Service manages registration, login, user roles and JWT generation; the Employee Service maintains employee profiles, departments and manager relationships; the Leave Service handles leave application, validation, status, approval, rejection and leave history; and the Notification Service consumes events and manages user notifications. </a:t>
            </a:r>
            <a:r>
              <a:rPr lang="en-IN" sz="1900" b="1" dirty="0">
                <a:latin typeface="Montserrat" pitchFamily="2" charset="0"/>
              </a:rPr>
              <a:t>Spring Cloud Gateway</a:t>
            </a:r>
            <a:r>
              <a:rPr lang="en-IN" sz="1900" dirty="0">
                <a:latin typeface="Montserrat" pitchFamily="2" charset="0"/>
              </a:rPr>
              <a:t> acts as the single entry point for the client and routes requests to the appropriate service, while </a:t>
            </a:r>
            <a:r>
              <a:rPr lang="en-IN" sz="1900" b="1" dirty="0">
                <a:latin typeface="Montserrat" pitchFamily="2" charset="0"/>
              </a:rPr>
              <a:t>Eureka</a:t>
            </a:r>
            <a:r>
              <a:rPr lang="en-IN" sz="1900" dirty="0">
                <a:latin typeface="Montserrat" pitchFamily="2" charset="0"/>
              </a:rPr>
              <a:t> provides service registration and discovery. Each microservice maintains ownership of its own database, preventing direct access to another service's data. REST APIs are used for synchronous operations, while Apache Kafka is used to carry asynchronous leave events such as LEAVE_APPLIED, LEAVE_APPROVED and LEAVE_REJECTED. The complete design supports the workflow from user registration and login to leave application, manager decision, status update and notification. </a:t>
            </a:r>
            <a:endParaRPr sz="1900" b="1" dirty="0">
              <a:solidFill>
                <a:srgbClr val="1271B9"/>
              </a:solidFill>
              <a:latin typeface="Montserrat" pitchFamily="2" charset="0"/>
            </a:endParaRPr>
          </a:p>
        </p:txBody>
      </p:sp>
      <p:sp>
        <p:nvSpPr>
          <p:cNvPr id="7" name="TextBox 6"/>
          <p:cNvSpPr txBox="1"/>
          <p:nvPr/>
        </p:nvSpPr>
        <p:spPr>
          <a:xfrm>
            <a:off x="1112520" y="2254143"/>
            <a:ext cx="10058400" cy="344710"/>
          </a:xfrm>
          <a:prstGeom prst="rect">
            <a:avLst/>
          </a:prstGeom>
          <a:noFill/>
        </p:spPr>
        <p:txBody>
          <a:bodyPr wrap="square" lIns="45720" tIns="18288" rIns="45720" bIns="18288">
            <a:spAutoFit/>
          </a:bodyPr>
          <a:lstStyle/>
          <a:p>
            <a:pPr algn="just">
              <a:spcAft>
                <a:spcPts val="700"/>
              </a:spcAft>
              <a:defRPr sz="1700">
                <a:solidFill>
                  <a:srgbClr val="191919"/>
                </a:solidFill>
                <a:latin typeface="Aptos"/>
              </a:defRPr>
            </a:pPr>
            <a:endParaRPr sz="2000" dirty="0">
              <a:latin typeface="Montserrat" pitchFamily="2" charset="0"/>
            </a:endParaRPr>
          </a:p>
        </p:txBody>
      </p:sp>
    </p:spTree>
    <p:extLst>
      <p:ext uri="{BB962C8B-B14F-4D97-AF65-F5344CB8AC3E}">
        <p14:creationId xmlns:p14="http://schemas.microsoft.com/office/powerpoint/2010/main" val="1843937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334F6E-7794-377B-4BD0-951C802B9F47}"/>
              </a:ext>
            </a:extLst>
          </p:cNvPr>
          <p:cNvSpPr>
            <a:spLocks noGrp="1"/>
          </p:cNvSpPr>
          <p:nvPr>
            <p:ph idx="1"/>
          </p:nvPr>
        </p:nvSpPr>
        <p:spPr>
          <a:xfrm>
            <a:off x="466344" y="1079083"/>
            <a:ext cx="11725656" cy="5556478"/>
          </a:xfrm>
        </p:spPr>
        <p:txBody>
          <a:bodyPr>
            <a:noAutofit/>
          </a:bodyPr>
          <a:lstStyle/>
          <a:p>
            <a:pPr marL="0" indent="0">
              <a:buNone/>
            </a:pPr>
            <a:r>
              <a:rPr lang="en-IN" sz="1600" b="1" dirty="0"/>
              <a:t>Module 1 - User Authentication</a:t>
            </a:r>
          </a:p>
          <a:p>
            <a:r>
              <a:rPr lang="en-IN" sz="1600" dirty="0"/>
              <a:t>Register / Login → JWT Authentication → Role Identification → Access Granted</a:t>
            </a:r>
          </a:p>
          <a:p>
            <a:pPr marL="0" indent="0">
              <a:buNone/>
            </a:pPr>
            <a:r>
              <a:rPr lang="en-IN" sz="1600" b="1" dirty="0"/>
              <a:t>Module 2 - Employee Management</a:t>
            </a:r>
          </a:p>
          <a:p>
            <a:r>
              <a:rPr lang="en-IN" sz="1600" dirty="0"/>
              <a:t>Employee Profile → Department Details → Manager Mapping → Employee Information</a:t>
            </a:r>
          </a:p>
          <a:p>
            <a:pPr marL="0" indent="0">
              <a:buNone/>
            </a:pPr>
            <a:r>
              <a:rPr lang="en-IN" sz="1600" b="1" dirty="0"/>
              <a:t>Module 3 - Leave Management</a:t>
            </a:r>
          </a:p>
          <a:p>
            <a:r>
              <a:rPr lang="en-IN" sz="1600" dirty="0"/>
              <a:t>Apply Leave → Leave Validation → Store Leave Request → Send to Manager</a:t>
            </a:r>
          </a:p>
          <a:p>
            <a:pPr marL="0" indent="0">
              <a:buNone/>
            </a:pPr>
            <a:r>
              <a:rPr lang="en-IN" sz="1600" b="1" dirty="0"/>
              <a:t>Module 4 - Manager Approval</a:t>
            </a:r>
          </a:p>
          <a:p>
            <a:r>
              <a:rPr lang="en-IN" sz="1600" dirty="0"/>
              <a:t>Manager Views Request → Approve / Reject → Update Leave Status</a:t>
            </a:r>
          </a:p>
          <a:p>
            <a:pPr marL="0" indent="0">
              <a:buNone/>
            </a:pPr>
            <a:r>
              <a:rPr lang="en-IN" sz="1600" b="1" dirty="0"/>
              <a:t>Module 5 - Event &amp; Notification</a:t>
            </a:r>
          </a:p>
          <a:p>
            <a:r>
              <a:rPr lang="en-IN" sz="1600" dirty="0"/>
              <a:t>Leave Status Changed → Publish Event to Apache Kafka → Notification Service Consumes Event → Generate Notification</a:t>
            </a:r>
          </a:p>
          <a:p>
            <a:r>
              <a:rPr lang="en-IN" sz="1600" dirty="0"/>
              <a:t>Events:</a:t>
            </a:r>
            <a:br>
              <a:rPr lang="en-IN" sz="1600" dirty="0"/>
            </a:br>
            <a:r>
              <a:rPr lang="en-IN" sz="1600" dirty="0"/>
              <a:t>LEAVE_APPLIED → LEAVE_APPROVED / LEAVE_REJECTED</a:t>
            </a:r>
          </a:p>
          <a:p>
            <a:pPr marL="0" indent="0">
              <a:buNone/>
            </a:pPr>
            <a:r>
              <a:rPr lang="en-IN" sz="1600" b="1" dirty="0"/>
              <a:t>Module 6 - Leave History</a:t>
            </a:r>
          </a:p>
          <a:p>
            <a:r>
              <a:rPr lang="en-IN" sz="1600" dirty="0"/>
              <a:t>Updated Leave Status → Leave History → Employee Views Status &amp; History</a:t>
            </a:r>
          </a:p>
          <a:p>
            <a:pPr marL="0" indent="0" algn="just">
              <a:buNone/>
            </a:pPr>
            <a:r>
              <a:rPr lang="en-IN" sz="1600" b="1" dirty="0"/>
              <a:t>User Login → Employee Management → Apply Leave → Validation → Manager Approval/Rejection → Kafka Event → Notification → Leave History</a:t>
            </a:r>
          </a:p>
          <a:p>
            <a:pPr marL="0" indent="0">
              <a:buNone/>
            </a:pPr>
            <a:endParaRPr lang="en-IN" sz="1600" dirty="0">
              <a:latin typeface="Montserrat" pitchFamily="2" charset="0"/>
            </a:endParaRPr>
          </a:p>
        </p:txBody>
      </p:sp>
      <p:sp>
        <p:nvSpPr>
          <p:cNvPr id="5" name="TextBox 4">
            <a:extLst>
              <a:ext uri="{FF2B5EF4-FFF2-40B4-BE49-F238E27FC236}">
                <a16:creationId xmlns:a16="http://schemas.microsoft.com/office/drawing/2014/main" id="{05ACAA64-FB5E-60C2-9532-C2086C6FF053}"/>
              </a:ext>
            </a:extLst>
          </p:cNvPr>
          <p:cNvSpPr txBox="1"/>
          <p:nvPr/>
        </p:nvSpPr>
        <p:spPr>
          <a:xfrm>
            <a:off x="2753868" y="222440"/>
            <a:ext cx="6684264" cy="646331"/>
          </a:xfrm>
          <a:prstGeom prst="rect">
            <a:avLst/>
          </a:prstGeom>
          <a:noFill/>
        </p:spPr>
        <p:txBody>
          <a:bodyPr wrap="square">
            <a:spAutoFit/>
          </a:bodyPr>
          <a:lstStyle/>
          <a:p>
            <a:pPr algn="ctr"/>
            <a:r>
              <a:rPr lang="en-IN" sz="3600" b="1" dirty="0">
                <a:latin typeface="Montserrat" pitchFamily="2" charset="0"/>
              </a:rPr>
              <a:t>METHODOLOGY ADOPTED</a:t>
            </a:r>
            <a:endParaRPr lang="en-US" sz="3600" b="1" dirty="0">
              <a:latin typeface="Montserrat" pitchFamily="2" charset="0"/>
            </a:endParaRPr>
          </a:p>
        </p:txBody>
      </p:sp>
      <p:pic>
        <p:nvPicPr>
          <p:cNvPr id="7" name="Picture 6">
            <a:extLst>
              <a:ext uri="{FF2B5EF4-FFF2-40B4-BE49-F238E27FC236}">
                <a16:creationId xmlns:a16="http://schemas.microsoft.com/office/drawing/2014/main" id="{7D3D5BE9-8B27-90BB-6617-1223784C29A6}"/>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3025066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2F398-53A7-1ED0-CE04-3B880E4531E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EC74C9-EF9A-7240-D003-7AAED489926D}"/>
              </a:ext>
            </a:extLst>
          </p:cNvPr>
          <p:cNvSpPr txBox="1"/>
          <p:nvPr/>
        </p:nvSpPr>
        <p:spPr>
          <a:xfrm>
            <a:off x="2753868" y="222440"/>
            <a:ext cx="6684264" cy="646331"/>
          </a:xfrm>
          <a:prstGeom prst="rect">
            <a:avLst/>
          </a:prstGeom>
          <a:noFill/>
        </p:spPr>
        <p:txBody>
          <a:bodyPr wrap="square">
            <a:spAutoFit/>
          </a:bodyPr>
          <a:lstStyle/>
          <a:p>
            <a:pPr algn="ctr"/>
            <a:r>
              <a:rPr lang="en-IN" sz="3600" b="1" dirty="0">
                <a:latin typeface="Montserrat" pitchFamily="2" charset="0"/>
              </a:rPr>
              <a:t>METHODOLOGY ADOPTED</a:t>
            </a:r>
            <a:endParaRPr lang="en-US" sz="3600" b="1" dirty="0">
              <a:latin typeface="Montserrat" pitchFamily="2" charset="0"/>
            </a:endParaRPr>
          </a:p>
        </p:txBody>
      </p:sp>
      <p:pic>
        <p:nvPicPr>
          <p:cNvPr id="7" name="Picture 6">
            <a:extLst>
              <a:ext uri="{FF2B5EF4-FFF2-40B4-BE49-F238E27FC236}">
                <a16:creationId xmlns:a16="http://schemas.microsoft.com/office/drawing/2014/main" id="{6B2C4900-FFBC-E1E3-7765-1DB620F8F2C8}"/>
              </a:ext>
            </a:extLst>
          </p:cNvPr>
          <p:cNvPicPr>
            <a:picLocks noChangeAspect="1"/>
          </p:cNvPicPr>
          <p:nvPr/>
        </p:nvPicPr>
        <p:blipFill>
          <a:blip r:embed="rId2"/>
          <a:stretch>
            <a:fillRect/>
          </a:stretch>
        </p:blipFill>
        <p:spPr>
          <a:xfrm>
            <a:off x="10249380" y="0"/>
            <a:ext cx="1942620" cy="622550"/>
          </a:xfrm>
          <a:prstGeom prst="rect">
            <a:avLst/>
          </a:prstGeom>
        </p:spPr>
      </p:pic>
      <p:pic>
        <p:nvPicPr>
          <p:cNvPr id="8" name="Picture 7">
            <a:extLst>
              <a:ext uri="{FF2B5EF4-FFF2-40B4-BE49-F238E27FC236}">
                <a16:creationId xmlns:a16="http://schemas.microsoft.com/office/drawing/2014/main" id="{7BB9B5CC-43F3-7B1B-D500-6092F89EDD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0398" y="868771"/>
            <a:ext cx="8871204" cy="5914136"/>
          </a:xfrm>
          <a:prstGeom prst="rect">
            <a:avLst/>
          </a:prstGeom>
        </p:spPr>
      </p:pic>
    </p:spTree>
    <p:extLst>
      <p:ext uri="{BB962C8B-B14F-4D97-AF65-F5344CB8AC3E}">
        <p14:creationId xmlns:p14="http://schemas.microsoft.com/office/powerpoint/2010/main" val="2977963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100F1-2A3E-1867-5756-DEAABE6726E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D00722-FDC6-2DAF-3DDC-3EAC81D17DEB}"/>
              </a:ext>
            </a:extLst>
          </p:cNvPr>
          <p:cNvSpPr>
            <a:spLocks noGrp="1"/>
          </p:cNvSpPr>
          <p:nvPr>
            <p:ph idx="1"/>
          </p:nvPr>
        </p:nvSpPr>
        <p:spPr>
          <a:xfrm>
            <a:off x="929118" y="1891431"/>
            <a:ext cx="10152366" cy="3721517"/>
          </a:xfrm>
        </p:spPr>
        <p:txBody>
          <a:bodyPr>
            <a:noAutofit/>
          </a:bodyPr>
          <a:lstStyle/>
          <a:p>
            <a:pPr marL="0" indent="0" algn="just">
              <a:buNone/>
            </a:pPr>
            <a:r>
              <a:rPr lang="en-IN" sz="2400" b="1" dirty="0">
                <a:latin typeface="Montserrat" pitchFamily="2" charset="0"/>
              </a:rPr>
              <a:t>Frontend: </a:t>
            </a:r>
            <a:r>
              <a:rPr lang="en-IN" sz="2400" dirty="0">
                <a:latin typeface="Montserrat" pitchFamily="2" charset="0"/>
              </a:rPr>
              <a:t>React.js</a:t>
            </a:r>
          </a:p>
          <a:p>
            <a:pPr marL="0" indent="0" algn="just">
              <a:buNone/>
            </a:pPr>
            <a:r>
              <a:rPr lang="en-IN" sz="2400" b="1" dirty="0">
                <a:latin typeface="Montserrat" pitchFamily="2" charset="0"/>
              </a:rPr>
              <a:t>Backend: </a:t>
            </a:r>
            <a:r>
              <a:rPr lang="en-IN" sz="2400" dirty="0">
                <a:latin typeface="Montserrat" pitchFamily="2" charset="0"/>
              </a:rPr>
              <a:t>Java + Spring Boot + Spring Web + Spring Data JPA</a:t>
            </a:r>
          </a:p>
          <a:p>
            <a:pPr marL="0" indent="0" algn="just">
              <a:buNone/>
            </a:pPr>
            <a:r>
              <a:rPr lang="en-IN" sz="2400" b="1" dirty="0">
                <a:latin typeface="Montserrat" pitchFamily="2" charset="0"/>
              </a:rPr>
              <a:t>Security: </a:t>
            </a:r>
            <a:r>
              <a:rPr lang="en-IN" sz="2400" dirty="0">
                <a:latin typeface="Montserrat" pitchFamily="2" charset="0"/>
              </a:rPr>
              <a:t>JWT</a:t>
            </a:r>
          </a:p>
          <a:p>
            <a:pPr marL="0" indent="0" algn="just">
              <a:buNone/>
            </a:pPr>
            <a:r>
              <a:rPr lang="en-IN" sz="2400" b="1" dirty="0">
                <a:latin typeface="Montserrat" pitchFamily="2" charset="0"/>
              </a:rPr>
              <a:t>Database: </a:t>
            </a:r>
            <a:r>
              <a:rPr lang="en-IN" sz="2400" dirty="0">
                <a:latin typeface="Montserrat" pitchFamily="2" charset="0"/>
              </a:rPr>
              <a:t>MySQL</a:t>
            </a:r>
          </a:p>
          <a:p>
            <a:pPr marL="0" indent="0" algn="just">
              <a:buNone/>
            </a:pPr>
            <a:r>
              <a:rPr lang="en-IN" sz="2400" b="1" dirty="0">
                <a:latin typeface="Montserrat" pitchFamily="2" charset="0"/>
              </a:rPr>
              <a:t>Communication: </a:t>
            </a:r>
            <a:r>
              <a:rPr lang="en-IN" sz="2400" dirty="0">
                <a:latin typeface="Montserrat" pitchFamily="2" charset="0"/>
              </a:rPr>
              <a:t>REST API</a:t>
            </a:r>
          </a:p>
          <a:p>
            <a:pPr marL="0" indent="0" algn="just">
              <a:buNone/>
            </a:pPr>
            <a:r>
              <a:rPr lang="en-IN" sz="2400" b="1" dirty="0">
                <a:latin typeface="Montserrat" pitchFamily="2" charset="0"/>
              </a:rPr>
              <a:t>Messaging: </a:t>
            </a:r>
            <a:r>
              <a:rPr lang="en-IN" sz="2400" dirty="0">
                <a:latin typeface="Montserrat" pitchFamily="2" charset="0"/>
              </a:rPr>
              <a:t>Apache Kafka</a:t>
            </a:r>
          </a:p>
          <a:p>
            <a:pPr marL="0" indent="0" algn="just">
              <a:buNone/>
            </a:pPr>
            <a:r>
              <a:rPr lang="en-IN" sz="2400" b="1" dirty="0">
                <a:latin typeface="Montserrat" pitchFamily="2" charset="0"/>
              </a:rPr>
              <a:t>Testing:</a:t>
            </a:r>
            <a:r>
              <a:rPr lang="en-IN" sz="2400" dirty="0">
                <a:latin typeface="Montserrat" pitchFamily="2" charset="0"/>
              </a:rPr>
              <a:t> Postman + JUnit</a:t>
            </a:r>
          </a:p>
          <a:p>
            <a:pPr marL="0" indent="0" algn="just">
              <a:buNone/>
            </a:pPr>
            <a:r>
              <a:rPr lang="en-IN" sz="2400" b="1" dirty="0">
                <a:latin typeface="Montserrat" pitchFamily="2" charset="0"/>
              </a:rPr>
              <a:t>Build: </a:t>
            </a:r>
            <a:r>
              <a:rPr lang="en-IN" sz="2400" dirty="0">
                <a:latin typeface="Montserrat" pitchFamily="2" charset="0"/>
              </a:rPr>
              <a:t>Maven</a:t>
            </a:r>
          </a:p>
        </p:txBody>
      </p:sp>
      <p:sp>
        <p:nvSpPr>
          <p:cNvPr id="5" name="TextBox 4">
            <a:extLst>
              <a:ext uri="{FF2B5EF4-FFF2-40B4-BE49-F238E27FC236}">
                <a16:creationId xmlns:a16="http://schemas.microsoft.com/office/drawing/2014/main" id="{7E94DE14-522B-660C-2267-1A6D4392CC70}"/>
              </a:ext>
            </a:extLst>
          </p:cNvPr>
          <p:cNvSpPr txBox="1"/>
          <p:nvPr/>
        </p:nvSpPr>
        <p:spPr>
          <a:xfrm>
            <a:off x="846822" y="622550"/>
            <a:ext cx="10498356" cy="646331"/>
          </a:xfrm>
          <a:prstGeom prst="rect">
            <a:avLst/>
          </a:prstGeom>
          <a:noFill/>
        </p:spPr>
        <p:txBody>
          <a:bodyPr wrap="square">
            <a:spAutoFit/>
          </a:bodyPr>
          <a:lstStyle/>
          <a:p>
            <a:pPr algn="ctr"/>
            <a:r>
              <a:rPr lang="en-IN" sz="3600" b="1" dirty="0">
                <a:latin typeface="Montserrat" pitchFamily="2" charset="0"/>
              </a:rPr>
              <a:t>TECHNICAL SOUNDNESS OF THE PROJECT</a:t>
            </a:r>
            <a:endParaRPr lang="en-US" sz="3600" b="1" dirty="0">
              <a:latin typeface="Montserrat" pitchFamily="2" charset="0"/>
            </a:endParaRPr>
          </a:p>
        </p:txBody>
      </p:sp>
      <p:pic>
        <p:nvPicPr>
          <p:cNvPr id="7" name="Picture 6">
            <a:extLst>
              <a:ext uri="{FF2B5EF4-FFF2-40B4-BE49-F238E27FC236}">
                <a16:creationId xmlns:a16="http://schemas.microsoft.com/office/drawing/2014/main" id="{BBBF49DF-48EB-E1E0-63BD-40CCA8090CCE}"/>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4213074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E34BF-E182-7CF1-90D6-3219E347D9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39918DF-2504-A10D-313D-2ED8E93146C5}"/>
              </a:ext>
            </a:extLst>
          </p:cNvPr>
          <p:cNvSpPr txBox="1"/>
          <p:nvPr/>
        </p:nvSpPr>
        <p:spPr>
          <a:xfrm>
            <a:off x="1562580" y="380907"/>
            <a:ext cx="8833104" cy="646331"/>
          </a:xfrm>
          <a:prstGeom prst="rect">
            <a:avLst/>
          </a:prstGeom>
          <a:noFill/>
        </p:spPr>
        <p:txBody>
          <a:bodyPr wrap="square">
            <a:spAutoFit/>
          </a:bodyPr>
          <a:lstStyle/>
          <a:p>
            <a:pPr algn="ctr"/>
            <a:r>
              <a:rPr lang="en-IN" sz="3600" b="1" dirty="0">
                <a:latin typeface="Montserrat" pitchFamily="2" charset="0"/>
              </a:rPr>
              <a:t>SYSTEM DESIGN</a:t>
            </a:r>
            <a:endParaRPr lang="en-US" sz="3600" b="1" dirty="0">
              <a:latin typeface="Montserrat" pitchFamily="2" charset="0"/>
            </a:endParaRPr>
          </a:p>
        </p:txBody>
      </p:sp>
      <p:pic>
        <p:nvPicPr>
          <p:cNvPr id="7" name="Picture 6">
            <a:extLst>
              <a:ext uri="{FF2B5EF4-FFF2-40B4-BE49-F238E27FC236}">
                <a16:creationId xmlns:a16="http://schemas.microsoft.com/office/drawing/2014/main" id="{F980D04C-E6B8-DC36-0A0D-E9F2329EB215}"/>
              </a:ext>
            </a:extLst>
          </p:cNvPr>
          <p:cNvPicPr>
            <a:picLocks noChangeAspect="1"/>
          </p:cNvPicPr>
          <p:nvPr/>
        </p:nvPicPr>
        <p:blipFill>
          <a:blip r:embed="rId2"/>
          <a:stretch>
            <a:fillRect/>
          </a:stretch>
        </p:blipFill>
        <p:spPr>
          <a:xfrm>
            <a:off x="10249380" y="0"/>
            <a:ext cx="1942620" cy="622550"/>
          </a:xfrm>
          <a:prstGeom prst="rect">
            <a:avLst/>
          </a:prstGeom>
        </p:spPr>
      </p:pic>
      <p:pic>
        <p:nvPicPr>
          <p:cNvPr id="4" name="Picture 3">
            <a:extLst>
              <a:ext uri="{FF2B5EF4-FFF2-40B4-BE49-F238E27FC236}">
                <a16:creationId xmlns:a16="http://schemas.microsoft.com/office/drawing/2014/main" id="{2031CF5E-2A48-D5DE-4E56-E95F4F7E83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4000" y="1026480"/>
            <a:ext cx="8418096" cy="5612064"/>
          </a:xfrm>
          <a:prstGeom prst="rect">
            <a:avLst/>
          </a:prstGeom>
        </p:spPr>
      </p:pic>
    </p:spTree>
    <p:extLst>
      <p:ext uri="{BB962C8B-B14F-4D97-AF65-F5344CB8AC3E}">
        <p14:creationId xmlns:p14="http://schemas.microsoft.com/office/powerpoint/2010/main" val="3582861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226</TotalTime>
  <Words>668</Words>
  <Application>Microsoft Office PowerPoint</Application>
  <PresentationFormat>Widescreen</PresentationFormat>
  <Paragraphs>52</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Raghu Nandan Bheema</cp:lastModifiedBy>
  <cp:revision>39</cp:revision>
  <dcterms:created xsi:type="dcterms:W3CDTF">2026-08-08T06:33:56Z</dcterms:created>
  <dcterms:modified xsi:type="dcterms:W3CDTF">2026-10-01T09:25:04Z</dcterms:modified>
</cp:coreProperties>
</file>