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62" r:id="rId3"/>
    <p:sldId id="707" r:id="rId4"/>
    <p:sldId id="257" r:id="rId5"/>
    <p:sldId id="904" r:id="rId6"/>
    <p:sldId id="902" r:id="rId7"/>
    <p:sldId id="258" r:id="rId8"/>
    <p:sldId id="259" r:id="rId9"/>
    <p:sldId id="260" r:id="rId10"/>
    <p:sldId id="90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AED"/>
    <a:srgbClr val="CCD2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40" d="100"/>
          <a:sy n="40" d="100"/>
        </p:scale>
        <p:origin x="1684" y="6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4" qsCatId="3D" csTypeId="urn:microsoft.com/office/officeart/2005/8/colors/colorful1#4"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4">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9/26/2026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26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26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26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26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26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26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26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26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26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26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26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9/26/2026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26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600334884"/>
              </p:ext>
            </p:extLst>
          </p:nvPr>
        </p:nvGraphicFramePr>
        <p:xfrm>
          <a:off x="7651750" y="3665793"/>
          <a:ext cx="5049266" cy="1219200"/>
        </p:xfrm>
        <a:graphic>
          <a:graphicData uri="http://schemas.openxmlformats.org/drawingml/2006/table">
            <a:tbl>
              <a:tblPr firstRow="1" bandRow="1">
                <a:tableStyleId>{5940675A-B579-460E-94D1-54222C63F5DA}</a:tableStyleId>
              </a:tblPr>
              <a:tblGrid>
                <a:gridCol w="5049266">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1" dirty="0">
                          <a:solidFill>
                            <a:srgbClr val="C00000"/>
                          </a:solidFill>
                          <a:latin typeface="Montserrat" pitchFamily="2" charset="0"/>
                          <a:cs typeface="Times New Roman" panose="02020603050405020304" pitchFamily="18" charset="0"/>
                        </a:rPr>
                        <a:t>Team Members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latin typeface="Montserrat" pitchFamily="2" charset="0"/>
                          <a:ea typeface="Cambria"/>
                          <a:cs typeface="Times New Roman" panose="02020603050405020304" pitchFamily="18" charset="0"/>
                        </a:rPr>
                        <a:t>C Pravin Sai – 2420030777</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latin typeface="Montserrat" pitchFamily="2" charset="0"/>
                          <a:ea typeface="Cambria"/>
                          <a:cs typeface="Times New Roman" panose="02020603050405020304" pitchFamily="18" charset="0"/>
                        </a:rPr>
                        <a:t>B Raghu Nandan – 2420030058</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latin typeface="Montserrat" pitchFamily="2" charset="0"/>
                          <a:ea typeface="Cambria"/>
                          <a:cs typeface="Times New Roman" panose="02020603050405020304" pitchFamily="18" charset="0"/>
                        </a:rPr>
                        <a:t>J Hemanth Krishna - 2420039805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7496758" y="3532842"/>
            <a:ext cx="314027"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latin typeface="Montserrat" pitchFamily="2" charset="0"/>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Montserrat" pitchFamily="2" charset="0"/>
              </a:endParaRPr>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409135628"/>
              </p:ext>
            </p:extLst>
          </p:nvPr>
        </p:nvGraphicFramePr>
        <p:xfrm>
          <a:off x="-182880" y="3461555"/>
          <a:ext cx="6473952" cy="1976120"/>
        </p:xfrm>
        <a:graphic>
          <a:graphicData uri="http://schemas.openxmlformats.org/drawingml/2006/table">
            <a:tbl>
              <a:tblPr firstRow="1" bandRow="1">
                <a:tableStyleId>{5940675A-B579-460E-94D1-54222C63F5DA}</a:tableStyleId>
              </a:tblPr>
              <a:tblGrid>
                <a:gridCol w="1506592">
                  <a:extLst>
                    <a:ext uri="{9D8B030D-6E8A-4147-A177-3AD203B41FA5}">
                      <a16:colId xmlns:a16="http://schemas.microsoft.com/office/drawing/2014/main" val="40058472"/>
                    </a:ext>
                  </a:extLst>
                </a:gridCol>
                <a:gridCol w="4967360">
                  <a:extLst>
                    <a:ext uri="{9D8B030D-6E8A-4147-A177-3AD203B41FA5}">
                      <a16:colId xmlns:a16="http://schemas.microsoft.com/office/drawing/2014/main" val="1330242319"/>
                    </a:ext>
                  </a:extLst>
                </a:gridCol>
              </a:tblGrid>
              <a:tr h="1332118">
                <a:tc>
                  <a:txBody>
                    <a:bodyPr/>
                    <a:lstStyle/>
                    <a:p>
                      <a:endParaRPr lang="en-IN" sz="2400" dirty="0">
                        <a:latin typeface="Montserrat" pitchFamily="2"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700" b="1" dirty="0">
                        <a:solidFill>
                          <a:srgbClr val="C00000"/>
                        </a:solidFill>
                        <a:latin typeface="Montserrat" pitchFamily="2" charset="0"/>
                        <a:cs typeface="Times New Roman" panose="02020603050405020304" pitchFamily="18" charset="0"/>
                      </a:endParaRPr>
                    </a:p>
                    <a:p>
                      <a:r>
                        <a:rPr lang="en-IN" sz="2000" b="1" dirty="0">
                          <a:solidFill>
                            <a:srgbClr val="C00000"/>
                          </a:solidFill>
                          <a:latin typeface="Montserrat" pitchFamily="2" charset="0"/>
                          <a:cs typeface="Times New Roman" panose="02020603050405020304" pitchFamily="18" charset="0"/>
                        </a:rPr>
                        <a:t>Under the Guidance of</a:t>
                      </a:r>
                    </a:p>
                    <a:p>
                      <a:pPr marL="0" indent="0" algn="l">
                        <a:lnSpc>
                          <a:spcPct val="100000"/>
                        </a:lnSpc>
                        <a:spcBef>
                          <a:spcPts val="200"/>
                        </a:spcBef>
                        <a:buSzPts val="810"/>
                        <a:buNone/>
                      </a:pPr>
                      <a:r>
                        <a:rPr lang="en-US" sz="1800" b="1" dirty="0">
                          <a:solidFill>
                            <a:schemeClr val="dk1"/>
                          </a:solidFill>
                          <a:latin typeface="Montserrat" pitchFamily="2" charset="0"/>
                          <a:ea typeface="Cambria"/>
                          <a:cs typeface="Times New Roman" panose="02020603050405020304" pitchFamily="18" charset="0"/>
                          <a:sym typeface="Cambria"/>
                        </a:rPr>
                        <a:t>Mrs. R. Navyatha</a:t>
                      </a:r>
                    </a:p>
                    <a:p>
                      <a:pPr marL="0" indent="0" algn="l">
                        <a:lnSpc>
                          <a:spcPct val="100000"/>
                        </a:lnSpc>
                        <a:spcBef>
                          <a:spcPts val="200"/>
                        </a:spcBef>
                        <a:buSzPts val="810"/>
                        <a:buNone/>
                      </a:pPr>
                      <a:r>
                        <a:rPr lang="en-US" sz="1800" dirty="0">
                          <a:solidFill>
                            <a:schemeClr val="dk1"/>
                          </a:solidFill>
                          <a:latin typeface="Montserrat" pitchFamily="2"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800" b="1" dirty="0">
                          <a:solidFill>
                            <a:schemeClr val="dk1"/>
                          </a:solidFill>
                          <a:latin typeface="Montserrat" pitchFamily="2" charset="0"/>
                          <a:ea typeface="Cambria"/>
                          <a:cs typeface="Times New Roman" panose="02020603050405020304" pitchFamily="18" charset="0"/>
                          <a:sym typeface="Cambria"/>
                        </a:rPr>
                        <a:t>Department of </a:t>
                      </a:r>
                      <a:r>
                        <a:rPr lang="en-US" sz="1800" b="1" dirty="0">
                          <a:solidFill>
                            <a:prstClr val="black"/>
                          </a:solidFill>
                          <a:latin typeface="Montserrat" pitchFamily="2"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800" dirty="0">
                          <a:solidFill>
                            <a:schemeClr val="dk1"/>
                          </a:solidFill>
                          <a:latin typeface="Montserrat" pitchFamily="2" charset="0"/>
                          <a:ea typeface="Cambria"/>
                          <a:cs typeface="Times New Roman" panose="02020603050405020304" pitchFamily="18" charset="0"/>
                          <a:sym typeface="Cambria"/>
                        </a:rPr>
                        <a:t>KLH CSE Bowrampet Campus</a:t>
                      </a:r>
                      <a:endParaRPr lang="en-US" sz="1800" dirty="0">
                        <a:solidFill>
                          <a:schemeClr val="dk1"/>
                        </a:solidFill>
                        <a:latin typeface="Montserrat" pitchFamily="2"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1164894" y="3268216"/>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000" dirty="0">
                <a:highlight>
                  <a:srgbClr val="FFFF00"/>
                </a:highlight>
                <a:latin typeface="Montserrat" pitchFamily="2" charset="0"/>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000" dirty="0">
                <a:latin typeface="Montserrat" pitchFamily="2" charset="0"/>
              </a:endParaRPr>
            </a:p>
          </p:txBody>
        </p:sp>
      </p:gr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latin typeface="Montserrat" pitchFamily="2" charset="0"/>
              </a:rPr>
              <a:t>1</a:t>
            </a:fld>
            <a:endParaRPr lang="en-IN" dirty="0">
              <a:latin typeface="Montserrat" pitchFamily="2" charset="0"/>
            </a:endParaRPr>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3" y="668789"/>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Montserrat" pitchFamily="2"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Montserrat" pitchFamily="2" charset="0"/>
              <a:cs typeface="Times New Roman" panose="02020603050405020304" pitchFamily="18" charset="0"/>
            </a:endParaRPr>
          </a:p>
          <a:p>
            <a:pPr algn="ctr"/>
            <a:endParaRPr lang="en-IN" dirty="0">
              <a:latin typeface="Montserrat" pitchFamily="2"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5" y="713011"/>
            <a:ext cx="10715625" cy="954107"/>
          </a:xfrm>
          <a:prstGeom prst="rect">
            <a:avLst/>
          </a:prstGeom>
          <a:noFill/>
        </p:spPr>
        <p:txBody>
          <a:bodyPr wrap="square">
            <a:spAutoFit/>
          </a:bodyPr>
          <a:lstStyle/>
          <a:p>
            <a:pPr lvl="1" algn="ctr">
              <a:defRPr/>
            </a:pPr>
            <a:r>
              <a:rPr lang="en-IN" sz="2800" b="1" dirty="0">
                <a:solidFill>
                  <a:schemeClr val="bg1"/>
                </a:solidFill>
                <a:latin typeface="Montserrat" pitchFamily="2" charset="0"/>
                <a:cs typeface="Times New Roman" panose="02020603050405020304" pitchFamily="18" charset="0"/>
              </a:rPr>
              <a:t>E.L.O.R.A – Employee Leave Orchestration and Resource Administration</a:t>
            </a:r>
            <a:endParaRPr kumimoji="0" lang="en-US" sz="3600" b="0" i="0" u="none" strike="noStrike" kern="1200" cap="none" spc="0" normalizeH="0" baseline="0" noProof="0" dirty="0">
              <a:ln>
                <a:noFill/>
              </a:ln>
              <a:solidFill>
                <a:schemeClr val="bg1"/>
              </a:solidFill>
              <a:effectLst/>
              <a:uLnTx/>
              <a:uFillTx/>
              <a:latin typeface="Montserrat" pitchFamily="2" charset="0"/>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638175" y="2025350"/>
            <a:ext cx="10715625" cy="584775"/>
          </a:xfrm>
          <a:prstGeom prst="rect">
            <a:avLst/>
          </a:prstGeom>
          <a:noFill/>
        </p:spPr>
        <p:txBody>
          <a:bodyPr wrap="square">
            <a:spAutoFit/>
          </a:bodyPr>
          <a:lstStyle/>
          <a:p>
            <a:pPr lvl="0" algn="ctr">
              <a:defRPr/>
            </a:pPr>
            <a:r>
              <a:rPr lang="en-IN" sz="3200" b="1" dirty="0">
                <a:latin typeface="Montserrat" pitchFamily="2" charset="0"/>
                <a:cs typeface="Times New Roman" panose="02020603050405020304" pitchFamily="18" charset="0"/>
              </a:rPr>
              <a:t>SOA Project Review - 1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Montserrat" pitchFamily="2" charset="0"/>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Montserrat" pitchFamily="2" charset="0"/>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164507" y="311275"/>
            <a:ext cx="6006421"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Montserrat" pitchFamily="2"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1731720" y="1210310"/>
            <a:ext cx="7439208" cy="5146040"/>
            <a:chOff x="1929643" y="1585179"/>
            <a:chExt cx="5389548" cy="4193719"/>
          </a:xfrm>
        </p:grpSpPr>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0" y="4613214"/>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631215"/>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Montserrat" pitchFamily="2"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Montserrat" pitchFamily="2" charset="0"/>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143098" y="2159951"/>
              <a:ext cx="3544953" cy="596551"/>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Montserrat" pitchFamily="2"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Montserrat" pitchFamily="2" charset="0"/>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621393" y="4091170"/>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08778" y="3612401"/>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213060" y="3126093"/>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954206" y="2620991"/>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88036" y="2096420"/>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431627" y="1585179"/>
              <a:ext cx="455841" cy="536286"/>
            </a:xfrm>
            <a:prstGeom prst="rect">
              <a:avLst/>
            </a:prstGeom>
          </p:spPr>
        </p:pic>
        <p:sp>
          <p:nvSpPr>
            <p:cNvPr id="2" name="Content Placeholder 11">
              <a:extLst>
                <a:ext uri="{FF2B5EF4-FFF2-40B4-BE49-F238E27FC236}">
                  <a16:creationId xmlns:a16="http://schemas.microsoft.com/office/drawing/2014/main" id="{0CB95D0D-02A8-4CD7-58C1-8FBFCEF808D6}"/>
                </a:ext>
              </a:extLst>
            </p:cNvPr>
            <p:cNvSpPr txBox="1">
              <a:spLocks/>
            </p:cNvSpPr>
            <p:nvPr/>
          </p:nvSpPr>
          <p:spPr>
            <a:xfrm>
              <a:off x="2401149" y="2682851"/>
              <a:ext cx="3544953" cy="596551"/>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lvl="0" indent="-342900" defTabSz="457200">
                <a:lnSpc>
                  <a:spcPct val="150000"/>
                </a:lnSpc>
                <a:spcBef>
                  <a:spcPts val="0"/>
                </a:spcBef>
                <a:buSzPts val="2520"/>
                <a:tabLst>
                  <a:tab pos="444500" algn="l"/>
                </a:tabLst>
                <a:defRPr/>
              </a:pPr>
              <a:r>
                <a:rPr lang="en-US" sz="2000" b="1" dirty="0">
                  <a:solidFill>
                    <a:prstClr val="white"/>
                  </a:solidFill>
                  <a:latin typeface="Montserrat" pitchFamily="2" charset="0"/>
                  <a:ea typeface="Calibri"/>
                  <a:cs typeface="Times New Roman" pitchFamily="18" charset="0"/>
                  <a:sym typeface="Calibri"/>
                </a:rPr>
                <a:t>Literature Survey</a:t>
              </a:r>
              <a:endParaRPr lang="en-US" sz="2000" b="1" dirty="0">
                <a:solidFill>
                  <a:prstClr val="black"/>
                </a:solidFill>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Montserrat" pitchFamily="2" charset="0"/>
                <a:cs typeface="Times New Roman" panose="02020603050405020304" pitchFamily="18" charset="0"/>
              </a:endParaRPr>
            </a:p>
          </p:txBody>
        </p:sp>
        <p:sp>
          <p:nvSpPr>
            <p:cNvPr id="3" name="Content Placeholder 11">
              <a:extLst>
                <a:ext uri="{FF2B5EF4-FFF2-40B4-BE49-F238E27FC236}">
                  <a16:creationId xmlns:a16="http://schemas.microsoft.com/office/drawing/2014/main" id="{C1E77624-6E1B-ED06-8A2A-2B5380654BF7}"/>
                </a:ext>
              </a:extLst>
            </p:cNvPr>
            <p:cNvSpPr txBox="1">
              <a:spLocks/>
            </p:cNvSpPr>
            <p:nvPr/>
          </p:nvSpPr>
          <p:spPr>
            <a:xfrm>
              <a:off x="2665675" y="3184850"/>
              <a:ext cx="3548330" cy="631215"/>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lvl="0" indent="-342900" defTabSz="457200">
                <a:lnSpc>
                  <a:spcPct val="150000"/>
                </a:lnSpc>
                <a:spcBef>
                  <a:spcPts val="0"/>
                </a:spcBef>
                <a:buSzPts val="2520"/>
                <a:tabLst>
                  <a:tab pos="444500" algn="l"/>
                </a:tabLst>
                <a:defRPr/>
              </a:pPr>
              <a:r>
                <a:rPr lang="en-US" sz="2000" b="1" dirty="0">
                  <a:solidFill>
                    <a:prstClr val="white"/>
                  </a:solidFill>
                  <a:latin typeface="Montserrat" pitchFamily="2" charset="0"/>
                  <a:ea typeface="Calibri"/>
                  <a:cs typeface="Times New Roman" pitchFamily="18" charset="0"/>
                  <a:sym typeface="Calibri"/>
                </a:rPr>
                <a:t>Challenges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Montserrat" pitchFamily="2" charset="0"/>
                <a:cs typeface="Times New Roman" panose="02020603050405020304" pitchFamily="18" charset="0"/>
              </a:endParaRPr>
            </a:p>
          </p:txBody>
        </p:sp>
        <p:sp>
          <p:nvSpPr>
            <p:cNvPr id="4" name="Content Placeholder 11">
              <a:extLst>
                <a:ext uri="{FF2B5EF4-FFF2-40B4-BE49-F238E27FC236}">
                  <a16:creationId xmlns:a16="http://schemas.microsoft.com/office/drawing/2014/main" id="{92736ACA-8B23-B43F-FBDA-AD303ABC4DF1}"/>
                </a:ext>
              </a:extLst>
            </p:cNvPr>
            <p:cNvSpPr txBox="1">
              <a:spLocks/>
            </p:cNvSpPr>
            <p:nvPr/>
          </p:nvSpPr>
          <p:spPr>
            <a:xfrm>
              <a:off x="2879130" y="3688146"/>
              <a:ext cx="3544953" cy="596551"/>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lvl="0" indent="-342900" defTabSz="457200">
                <a:lnSpc>
                  <a:spcPct val="150000"/>
                </a:lnSpc>
                <a:spcBef>
                  <a:spcPts val="0"/>
                </a:spcBef>
                <a:buSzPts val="2520"/>
                <a:tabLst>
                  <a:tab pos="444500" algn="l"/>
                </a:tabLst>
                <a:defRPr/>
              </a:pPr>
              <a:r>
                <a:rPr lang="en-US" sz="2000" b="1" dirty="0">
                  <a:solidFill>
                    <a:prstClr val="white"/>
                  </a:solidFill>
                  <a:latin typeface="Montserrat" pitchFamily="2" charset="0"/>
                  <a:ea typeface="Calibri"/>
                  <a:cs typeface="Times New Roman" pitchFamily="18" charset="0"/>
                  <a:sym typeface="Calibri"/>
                </a:rPr>
                <a:t>Research Objectives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Montserrat" pitchFamily="2" charset="0"/>
                <a:cs typeface="Times New Roman" panose="02020603050405020304" pitchFamily="18" charset="0"/>
              </a:endParaRPr>
            </a:p>
          </p:txBody>
        </p:sp>
        <p:sp>
          <p:nvSpPr>
            <p:cNvPr id="6" name="Content Placeholder 11">
              <a:extLst>
                <a:ext uri="{FF2B5EF4-FFF2-40B4-BE49-F238E27FC236}">
                  <a16:creationId xmlns:a16="http://schemas.microsoft.com/office/drawing/2014/main" id="{FBB873FE-DE67-30FC-BB6E-438AB781E809}"/>
                </a:ext>
              </a:extLst>
            </p:cNvPr>
            <p:cNvSpPr txBox="1">
              <a:spLocks/>
            </p:cNvSpPr>
            <p:nvPr/>
          </p:nvSpPr>
          <p:spPr>
            <a:xfrm>
              <a:off x="3091746" y="4166915"/>
              <a:ext cx="3544953" cy="596551"/>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lvl="0" indent="-342900" defTabSz="457200">
                <a:lnSpc>
                  <a:spcPct val="150000"/>
                </a:lnSpc>
                <a:spcBef>
                  <a:spcPts val="504"/>
                </a:spcBef>
                <a:buSzPts val="2520"/>
                <a:tabLst>
                  <a:tab pos="444500" algn="l"/>
                </a:tabLst>
                <a:defRPr/>
              </a:pPr>
              <a:r>
                <a:rPr lang="en-US" sz="6200" b="1" dirty="0">
                  <a:solidFill>
                    <a:prstClr val="white"/>
                  </a:solidFill>
                  <a:latin typeface="Montserrat" pitchFamily="2" charset="0"/>
                  <a:ea typeface="Calibri"/>
                  <a:cs typeface="Times New Roman" pitchFamily="18" charset="0"/>
                  <a:sym typeface="Calibri"/>
                </a:rPr>
                <a:t>Conclusion &amp; Future Work</a:t>
              </a:r>
              <a:endParaRPr kumimoji="0" lang="en-US" sz="62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Montserrat" pitchFamily="2" charset="0"/>
                <a:cs typeface="Times New Roman" panose="02020603050405020304" pitchFamily="18" charset="0"/>
              </a:endParaRPr>
            </a:p>
          </p:txBody>
        </p:sp>
        <p:sp>
          <p:nvSpPr>
            <p:cNvPr id="11" name="Content Placeholder 11">
              <a:extLst>
                <a:ext uri="{FF2B5EF4-FFF2-40B4-BE49-F238E27FC236}">
                  <a16:creationId xmlns:a16="http://schemas.microsoft.com/office/drawing/2014/main" id="{AD45E14C-B4D6-E183-C2E1-339C8757900A}"/>
                </a:ext>
              </a:extLst>
            </p:cNvPr>
            <p:cNvSpPr txBox="1">
              <a:spLocks/>
            </p:cNvSpPr>
            <p:nvPr/>
          </p:nvSpPr>
          <p:spPr>
            <a:xfrm>
              <a:off x="3340382" y="4657777"/>
              <a:ext cx="3548330" cy="631215"/>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lvl="0" indent="-342900" defTabSz="457200">
                <a:lnSpc>
                  <a:spcPct val="150000"/>
                </a:lnSpc>
                <a:spcBef>
                  <a:spcPts val="504"/>
                </a:spcBef>
                <a:buSzPts val="2520"/>
                <a:tabLst>
                  <a:tab pos="444500" algn="l"/>
                </a:tabLst>
                <a:defRPr/>
              </a:pPr>
              <a:r>
                <a:rPr lang="en-US" sz="2000" b="1" dirty="0">
                  <a:solidFill>
                    <a:prstClr val="white"/>
                  </a:solidFill>
                  <a:latin typeface="Montserrat" pitchFamily="2" charset="0"/>
                  <a:ea typeface="Calibri"/>
                  <a:cs typeface="Times New Roman" pitchFamily="18" charset="0"/>
                  <a:sym typeface="Calibri"/>
                </a:rPr>
                <a:t>References</a:t>
              </a: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Montserrat" pitchFamily="2"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CA947695-E408-AA48-C83F-1558AF03C97A}"/>
                </a:ext>
              </a:extLst>
            </p:cNvPr>
            <p:cNvSpPr txBox="1">
              <a:spLocks/>
            </p:cNvSpPr>
            <p:nvPr/>
          </p:nvSpPr>
          <p:spPr>
            <a:xfrm>
              <a:off x="3549247" y="5182347"/>
              <a:ext cx="3544953" cy="596551"/>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lvl="0" indent="-342900" defTabSz="457200">
                <a:lnSpc>
                  <a:spcPct val="150000"/>
                </a:lnSpc>
                <a:spcBef>
                  <a:spcPts val="504"/>
                </a:spcBef>
                <a:buSzPts val="2520"/>
                <a:tabLst>
                  <a:tab pos="444500" algn="l"/>
                </a:tabLst>
                <a:defRPr/>
              </a:pPr>
              <a:r>
                <a:rPr lang="en-US" sz="2000" b="1" dirty="0">
                  <a:solidFill>
                    <a:prstClr val="white"/>
                  </a:solidFill>
                  <a:latin typeface="Montserrat" pitchFamily="2" charset="0"/>
                  <a:ea typeface="Calibri"/>
                  <a:cs typeface="Times New Roman" pitchFamily="18" charset="0"/>
                  <a:sym typeface="Calibri"/>
                </a:rPr>
                <a:t>Publications Details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Montserrat" pitchFamily="2"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Montserrat" pitchFamily="2" charset="0"/>
                <a:cs typeface="Times New Roman" panose="02020603050405020304" pitchFamily="18" charset="0"/>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extLst>
              <p:ext uri="{D42A27DB-BD31-4B8C-83A1-F6EECF244321}">
                <p14:modId xmlns:p14="http://schemas.microsoft.com/office/powerpoint/2010/main" val="580515269"/>
              </p:ext>
            </p:extLst>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638820" y="409660"/>
            <a:ext cx="4914359" cy="646331"/>
          </a:xfrm>
          <a:prstGeom prst="rect">
            <a:avLst/>
          </a:prstGeom>
          <a:noFill/>
        </p:spPr>
        <p:txBody>
          <a:bodyPr wrap="square">
            <a:spAutoFit/>
          </a:bodyPr>
          <a:lstStyle/>
          <a:p>
            <a:r>
              <a:rPr lang="en-US" sz="3600" b="1" dirty="0">
                <a:latin typeface="Montserrat" pitchFamily="2" charset="0"/>
              </a:rPr>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914400" y="1476510"/>
            <a:ext cx="10058400" cy="621709"/>
          </a:xfrm>
          <a:prstGeom prst="rect">
            <a:avLst/>
          </a:prstGeom>
          <a:noFill/>
        </p:spPr>
        <p:txBody>
          <a:bodyPr wrap="square" lIns="45720" tIns="18288" rIns="45720" bIns="18288">
            <a:spAutoFit/>
          </a:bodyPr>
          <a:lstStyle/>
          <a:p>
            <a:pPr algn="ctr"/>
            <a:r>
              <a:rPr sz="1900" b="1" dirty="0">
                <a:solidFill>
                  <a:srgbClr val="1271B9"/>
                </a:solidFill>
                <a:latin typeface="Montserrat" pitchFamily="2" charset="0"/>
              </a:rPr>
              <a:t>Organizations need a structured way for employees to request leave and managers to approve or reject requests.</a:t>
            </a:r>
          </a:p>
        </p:txBody>
      </p:sp>
      <p:sp>
        <p:nvSpPr>
          <p:cNvPr id="7" name="TextBox 6"/>
          <p:cNvSpPr txBox="1"/>
          <p:nvPr/>
        </p:nvSpPr>
        <p:spPr>
          <a:xfrm>
            <a:off x="1112520" y="2254143"/>
            <a:ext cx="10058400" cy="2806922"/>
          </a:xfrm>
          <a:prstGeom prst="rect">
            <a:avLst/>
          </a:prstGeom>
          <a:noFill/>
        </p:spPr>
        <p:txBody>
          <a:bodyPr wrap="square" lIns="45720" tIns="18288" rIns="45720" bIns="18288">
            <a:spAutoFit/>
          </a:bodyPr>
          <a:lstStyle/>
          <a:p>
            <a:pPr algn="just">
              <a:spcAft>
                <a:spcPts val="700"/>
              </a:spcAft>
              <a:defRPr sz="1700">
                <a:solidFill>
                  <a:srgbClr val="191919"/>
                </a:solidFill>
                <a:latin typeface="Aptos"/>
              </a:defRPr>
            </a:pPr>
            <a:r>
              <a:rPr lang="en-US" sz="2000" dirty="0">
                <a:latin typeface="Montserrat" pitchFamily="2" charset="0"/>
              </a:rPr>
              <a:t>Organizations need a structured and reliable way for employees to submit leave requests with valid dates and reasons, while managers need an efficient process to review, approve, or reject those requests. The system requires secure authentication and role-based authorization to protect leave operations. A monolithic implementation can tightly couple identity, employee data, leave processing, and notifications, making the system difficult to maintain and scale. Therefore, the proposed system separates these capabilities into independent microservices, providing a secure, structured, and decoupled approach to leave management.</a:t>
            </a:r>
            <a:endParaRPr sz="2000" dirty="0">
              <a:latin typeface="Montserrat" pitchFamily="2" charset="0"/>
            </a:endParaRPr>
          </a:p>
        </p:txBody>
      </p:sp>
      <p:sp>
        <p:nvSpPr>
          <p:cNvPr id="8" name="TextBox 7"/>
          <p:cNvSpPr txBox="1"/>
          <p:nvPr/>
        </p:nvSpPr>
        <p:spPr>
          <a:xfrm>
            <a:off x="1021080" y="5283001"/>
            <a:ext cx="10058400" cy="313932"/>
          </a:xfrm>
          <a:prstGeom prst="rect">
            <a:avLst/>
          </a:prstGeom>
          <a:noFill/>
        </p:spPr>
        <p:txBody>
          <a:bodyPr wrap="square" lIns="45720" tIns="18288" rIns="45720" bIns="18288">
            <a:spAutoFit/>
          </a:bodyPr>
          <a:lstStyle/>
          <a:p>
            <a:pPr algn="ctr"/>
            <a:r>
              <a:rPr sz="1800" b="1" dirty="0">
                <a:solidFill>
                  <a:srgbClr val="191919"/>
                </a:solidFill>
                <a:latin typeface="Montserrat" pitchFamily="2" charset="0"/>
              </a:rPr>
              <a:t>Core problem: secure, structured and decoupled leave management.</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334F6E-7794-377B-4BD0-951C802B9F47}"/>
              </a:ext>
            </a:extLst>
          </p:cNvPr>
          <p:cNvSpPr>
            <a:spLocks noGrp="1"/>
          </p:cNvSpPr>
          <p:nvPr>
            <p:ph idx="1"/>
          </p:nvPr>
        </p:nvSpPr>
        <p:spPr>
          <a:xfrm>
            <a:off x="902208" y="1523873"/>
            <a:ext cx="10515600" cy="4351338"/>
          </a:xfrm>
        </p:spPr>
        <p:txBody>
          <a:bodyPr>
            <a:normAutofit/>
          </a:bodyPr>
          <a:lstStyle/>
          <a:p>
            <a:pPr>
              <a:spcAft>
                <a:spcPts val="300"/>
              </a:spcAft>
              <a:defRPr sz="1600">
                <a:solidFill>
                  <a:srgbClr val="191919"/>
                </a:solidFill>
                <a:latin typeface="Aptos"/>
              </a:defRPr>
            </a:pPr>
            <a:r>
              <a:rPr lang="en-US" sz="2400" dirty="0">
                <a:latin typeface="Montserrat" pitchFamily="2" charset="0"/>
              </a:rPr>
              <a:t>Implement independent microservices for Authentication, Employee, Leave, and Notification.</a:t>
            </a:r>
          </a:p>
          <a:p>
            <a:pPr>
              <a:spcAft>
                <a:spcPts val="300"/>
              </a:spcAft>
              <a:defRPr sz="1600">
                <a:solidFill>
                  <a:srgbClr val="191919"/>
                </a:solidFill>
                <a:latin typeface="Aptos"/>
              </a:defRPr>
            </a:pPr>
            <a:r>
              <a:rPr lang="en-US" sz="2400" dirty="0">
                <a:latin typeface="Montserrat" pitchFamily="2" charset="0"/>
              </a:rPr>
              <a:t>Secure the system using JWT authentication and role-based access control for employees, managers, and administrators.</a:t>
            </a:r>
          </a:p>
          <a:p>
            <a:pPr>
              <a:spcAft>
                <a:spcPts val="300"/>
              </a:spcAft>
              <a:defRPr sz="1600">
                <a:solidFill>
                  <a:srgbClr val="191919"/>
                </a:solidFill>
                <a:latin typeface="Aptos"/>
              </a:defRPr>
            </a:pPr>
            <a:r>
              <a:rPr lang="en-US" sz="2400" dirty="0">
                <a:latin typeface="Montserrat" pitchFamily="2" charset="0"/>
              </a:rPr>
              <a:t>Implement the complete leave lifecycle including application, validation, approval/rejection, history, and event-based notifications using REST and Kafka.</a:t>
            </a:r>
          </a:p>
          <a:p>
            <a:pPr>
              <a:spcAft>
                <a:spcPts val="300"/>
              </a:spcAft>
              <a:defRPr sz="1600">
                <a:solidFill>
                  <a:srgbClr val="191919"/>
                </a:solidFill>
                <a:latin typeface="Aptos"/>
              </a:defRPr>
            </a:pPr>
            <a:r>
              <a:rPr lang="en-US" sz="2400" dirty="0">
                <a:latin typeface="Montserrat" pitchFamily="2" charset="0"/>
              </a:rPr>
              <a:t>Maintain database ownership per service and validate the system through integration testing, Postman, security checks, and CI workflows.</a:t>
            </a:r>
            <a:endParaRPr lang="en-IN" sz="2400" dirty="0"/>
          </a:p>
        </p:txBody>
      </p:sp>
      <p:sp>
        <p:nvSpPr>
          <p:cNvPr id="5" name="TextBox 4">
            <a:extLst>
              <a:ext uri="{FF2B5EF4-FFF2-40B4-BE49-F238E27FC236}">
                <a16:creationId xmlns:a16="http://schemas.microsoft.com/office/drawing/2014/main" id="{05ACAA64-FB5E-60C2-9532-C2086C6FF053}"/>
              </a:ext>
            </a:extLst>
          </p:cNvPr>
          <p:cNvSpPr txBox="1"/>
          <p:nvPr/>
        </p:nvSpPr>
        <p:spPr>
          <a:xfrm>
            <a:off x="4703064" y="486316"/>
            <a:ext cx="2785872" cy="646331"/>
          </a:xfrm>
          <a:prstGeom prst="rect">
            <a:avLst/>
          </a:prstGeom>
          <a:noFill/>
        </p:spPr>
        <p:txBody>
          <a:bodyPr wrap="square">
            <a:spAutoFit/>
          </a:bodyPr>
          <a:lstStyle/>
          <a:p>
            <a:pPr algn="ctr"/>
            <a:r>
              <a:rPr lang="en-US" sz="3600" b="1" dirty="0">
                <a:latin typeface="Montserrat" pitchFamily="2" charset="0"/>
              </a:rPr>
              <a:t>Objectives</a:t>
            </a:r>
          </a:p>
        </p:txBody>
      </p:sp>
      <p:pic>
        <p:nvPicPr>
          <p:cNvPr id="7" name="Picture 6">
            <a:extLst>
              <a:ext uri="{FF2B5EF4-FFF2-40B4-BE49-F238E27FC236}">
                <a16:creationId xmlns:a16="http://schemas.microsoft.com/office/drawing/2014/main" id="{7D3D5BE9-8B27-90BB-6617-1223784C29A6}"/>
              </a:ext>
            </a:extLst>
          </p:cNvPr>
          <p:cNvPicPr>
            <a:picLocks noChangeAspect="1"/>
          </p:cNvPicPr>
          <p:nvPr/>
        </p:nvPicPr>
        <p:blipFill>
          <a:blip r:embed="rId2"/>
          <a:stretch>
            <a:fillRect/>
          </a:stretch>
        </p:blipFill>
        <p:spPr>
          <a:xfrm>
            <a:off x="10249380" y="0"/>
            <a:ext cx="1942620" cy="622550"/>
          </a:xfrm>
          <a:prstGeom prst="rect">
            <a:avLst/>
          </a:prstGeom>
        </p:spPr>
      </p:pic>
    </p:spTree>
    <p:extLst>
      <p:ext uri="{BB962C8B-B14F-4D97-AF65-F5344CB8AC3E}">
        <p14:creationId xmlns:p14="http://schemas.microsoft.com/office/powerpoint/2010/main" val="3025066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1690488981"/>
              </p:ext>
            </p:extLst>
          </p:nvPr>
        </p:nvGraphicFramePr>
        <p:xfrm>
          <a:off x="237744" y="689466"/>
          <a:ext cx="11679607" cy="4668597"/>
        </p:xfrm>
        <a:graphic>
          <a:graphicData uri="http://schemas.openxmlformats.org/drawingml/2006/table">
            <a:tbl>
              <a:tblPr firstRow="1" bandRow="1">
                <a:tableStyleId>{BC89EF96-8CEA-46FF-86C4-4CE0E7609802}</a:tableStyleId>
              </a:tblPr>
              <a:tblGrid>
                <a:gridCol w="1125908">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354600">
                <a:tc>
                  <a:txBody>
                    <a:bodyPr/>
                    <a:lstStyle/>
                    <a:p>
                      <a:pPr>
                        <a:buNone/>
                      </a:pPr>
                      <a:r>
                        <a:rPr lang="en-IN" b="1"/>
                        <a:t>Sapona et al. [1]</a:t>
                      </a:r>
                      <a:endParaRPr lang="en-IN"/>
                    </a:p>
                  </a:txBody>
                  <a:tcPr anchor="ctr"/>
                </a:tc>
                <a:tc>
                  <a:txBody>
                    <a:bodyPr/>
                    <a:lstStyle/>
                    <a:p>
                      <a:pPr>
                        <a:buNone/>
                      </a:pPr>
                      <a:r>
                        <a:rPr lang="en-IN" i="1" dirty="0"/>
                        <a:t>Web-based Leave Management System for </a:t>
                      </a:r>
                      <a:r>
                        <a:rPr lang="en-IN" i="1" dirty="0" err="1"/>
                        <a:t>Politeknik</a:t>
                      </a:r>
                      <a:r>
                        <a:rPr lang="en-IN" i="1" dirty="0"/>
                        <a:t> Negeri Batam</a:t>
                      </a:r>
                      <a:endParaRPr lang="en-IN" dirty="0"/>
                    </a:p>
                  </a:txBody>
                  <a:tcPr anchor="ctr"/>
                </a:tc>
                <a:tc>
                  <a:txBody>
                    <a:bodyPr/>
                    <a:lstStyle/>
                    <a:p>
                      <a:pPr>
                        <a:buNone/>
                      </a:pPr>
                      <a:r>
                        <a:rPr lang="en-IN" dirty="0"/>
                        <a:t>• Yii2 framework</a:t>
                      </a:r>
                    </a:p>
                    <a:p>
                      <a:pPr>
                        <a:buNone/>
                      </a:pPr>
                      <a:r>
                        <a:rPr lang="en-IN" dirty="0"/>
                        <a:t>• MySQL database</a:t>
                      </a:r>
                    </a:p>
                    <a:p>
                      <a:pPr>
                        <a:buNone/>
                      </a:pPr>
                      <a:r>
                        <a:rPr lang="en-IN" dirty="0"/>
                        <a:t>• Online leave application &amp; approval</a:t>
                      </a:r>
                    </a:p>
                  </a:txBody>
                  <a:tcPr anchor="ctr"/>
                </a:tc>
                <a:tc>
                  <a:txBody>
                    <a:bodyPr/>
                    <a:lstStyle/>
                    <a:p>
                      <a:pPr>
                        <a:buNone/>
                      </a:pPr>
                      <a:r>
                        <a:rPr lang="en-IN" dirty="0"/>
                        <a:t>• Reduced paperwork</a:t>
                      </a:r>
                    </a:p>
                    <a:p>
                      <a:pPr>
                        <a:buNone/>
                      </a:pPr>
                      <a:r>
                        <a:rPr lang="en-IN" dirty="0"/>
                        <a:t>• Improved leave processing and tracking</a:t>
                      </a:r>
                    </a:p>
                  </a:txBody>
                  <a:tcPr anchor="ctr"/>
                </a:tc>
                <a:tc>
                  <a:txBody>
                    <a:bodyPr/>
                    <a:lstStyle/>
                    <a:p>
                      <a:pPr>
                        <a:buNone/>
                      </a:pPr>
                      <a:r>
                        <a:rPr lang="en-IN" dirty="0"/>
                        <a:t>• Conventional web architecture</a:t>
                      </a:r>
                    </a:p>
                    <a:p>
                      <a:pPr>
                        <a:buNone/>
                      </a:pPr>
                      <a:r>
                        <a:rPr lang="en-IN" dirty="0"/>
                        <a:t>• No microservices or event-driven communication</a:t>
                      </a:r>
                    </a:p>
                  </a:txBody>
                  <a:tcPr anchor="ctr"/>
                </a:tc>
                <a:extLst>
                  <a:ext uri="{0D108BD9-81ED-4DB2-BD59-A6C34878D82A}">
                    <a16:rowId xmlns:a16="http://schemas.microsoft.com/office/drawing/2014/main" val="2619465890"/>
                  </a:ext>
                </a:extLst>
              </a:tr>
              <a:tr h="1354600">
                <a:tc>
                  <a:txBody>
                    <a:bodyPr/>
                    <a:lstStyle/>
                    <a:p>
                      <a:pPr>
                        <a:buNone/>
                      </a:pPr>
                      <a:r>
                        <a:rPr lang="en-IN" b="1"/>
                        <a:t>Aládé et al. [2]</a:t>
                      </a:r>
                      <a:endParaRPr lang="en-IN"/>
                    </a:p>
                  </a:txBody>
                  <a:tcPr anchor="ctr"/>
                </a:tc>
                <a:tc>
                  <a:txBody>
                    <a:bodyPr/>
                    <a:lstStyle/>
                    <a:p>
                      <a:pPr>
                        <a:buNone/>
                      </a:pPr>
                      <a:r>
                        <a:rPr lang="en-IN" i="1" dirty="0"/>
                        <a:t>Design and Implementation of a Web Based Leave Management System</a:t>
                      </a:r>
                      <a:endParaRPr lang="en-IN" dirty="0"/>
                    </a:p>
                  </a:txBody>
                  <a:tcPr anchor="ctr"/>
                </a:tc>
                <a:tc>
                  <a:txBody>
                    <a:bodyPr/>
                    <a:lstStyle/>
                    <a:p>
                      <a:pPr>
                        <a:buNone/>
                      </a:pPr>
                      <a:r>
                        <a:rPr lang="en-IN" dirty="0"/>
                        <a:t>• Django &amp; SQLite</a:t>
                      </a:r>
                    </a:p>
                    <a:p>
                      <a:pPr>
                        <a:buNone/>
                      </a:pPr>
                      <a:r>
                        <a:rPr lang="en-IN" dirty="0"/>
                        <a:t>• UML-based design</a:t>
                      </a:r>
                    </a:p>
                    <a:p>
                      <a:pPr>
                        <a:buNone/>
                      </a:pPr>
                      <a:r>
                        <a:rPr lang="en-IN" dirty="0"/>
                        <a:t>• Web-based leave processing</a:t>
                      </a:r>
                    </a:p>
                  </a:txBody>
                  <a:tcPr anchor="ctr"/>
                </a:tc>
                <a:tc>
                  <a:txBody>
                    <a:bodyPr/>
                    <a:lstStyle/>
                    <a:p>
                      <a:pPr>
                        <a:buNone/>
                      </a:pPr>
                      <a:r>
                        <a:rPr lang="en-IN" dirty="0"/>
                        <a:t>• Improved efficiency</a:t>
                      </a:r>
                    </a:p>
                    <a:p>
                      <a:pPr>
                        <a:buNone/>
                      </a:pPr>
                      <a:r>
                        <a:rPr lang="en-IN" dirty="0"/>
                        <a:t>• 76.67% user satisfaction</a:t>
                      </a:r>
                    </a:p>
                  </a:txBody>
                  <a:tcPr anchor="ctr"/>
                </a:tc>
                <a:tc>
                  <a:txBody>
                    <a:bodyPr/>
                    <a:lstStyle/>
                    <a:p>
                      <a:pPr>
                        <a:buNone/>
                      </a:pPr>
                      <a:r>
                        <a:rPr lang="en-IN" dirty="0"/>
                        <a:t>• Single application architecture</a:t>
                      </a:r>
                    </a:p>
                    <a:p>
                      <a:pPr>
                        <a:buNone/>
                      </a:pPr>
                      <a:r>
                        <a:rPr lang="en-IN" dirty="0"/>
                        <a:t>• No microservices, Gateway or Eureka</a:t>
                      </a:r>
                    </a:p>
                  </a:txBody>
                  <a:tcPr anchor="ctr"/>
                </a:tc>
                <a:extLst>
                  <a:ext uri="{0D108BD9-81ED-4DB2-BD59-A6C34878D82A}">
                    <a16:rowId xmlns:a16="http://schemas.microsoft.com/office/drawing/2014/main" val="36097865"/>
                  </a:ext>
                </a:extLst>
              </a:tr>
              <a:tr h="1354600">
                <a:tc>
                  <a:txBody>
                    <a:bodyPr/>
                    <a:lstStyle/>
                    <a:p>
                      <a:pPr>
                        <a:buNone/>
                      </a:pPr>
                      <a:r>
                        <a:rPr lang="en-IN" b="1"/>
                        <a:t>Fortich &amp; Marcial [3]</a:t>
                      </a:r>
                      <a:endParaRPr lang="en-IN"/>
                    </a:p>
                  </a:txBody>
                  <a:tcPr anchor="ctr"/>
                </a:tc>
                <a:tc>
                  <a:txBody>
                    <a:bodyPr/>
                    <a:lstStyle/>
                    <a:p>
                      <a:pPr>
                        <a:buNone/>
                      </a:pPr>
                      <a:r>
                        <a:rPr lang="en-IN" i="1"/>
                        <a:t>Human Resource E-Leave Management: A Decision Support System</a:t>
                      </a:r>
                      <a:endParaRPr lang="en-IN"/>
                    </a:p>
                  </a:txBody>
                  <a:tcPr anchor="ctr"/>
                </a:tc>
                <a:tc>
                  <a:txBody>
                    <a:bodyPr/>
                    <a:lstStyle/>
                    <a:p>
                      <a:pPr>
                        <a:buNone/>
                      </a:pPr>
                      <a:r>
                        <a:rPr lang="en-IN" dirty="0"/>
                        <a:t>• PHP, JavaScript, Ajax</a:t>
                      </a:r>
                    </a:p>
                    <a:p>
                      <a:pPr>
                        <a:buNone/>
                      </a:pPr>
                      <a:r>
                        <a:rPr lang="en-IN" dirty="0"/>
                        <a:t>• Web-based HR system</a:t>
                      </a:r>
                    </a:p>
                    <a:p>
                      <a:pPr>
                        <a:buNone/>
                      </a:pPr>
                      <a:r>
                        <a:rPr lang="en-IN" dirty="0"/>
                        <a:t>• Reporting &amp; decision support</a:t>
                      </a:r>
                    </a:p>
                  </a:txBody>
                  <a:tcPr anchor="ctr"/>
                </a:tc>
                <a:tc>
                  <a:txBody>
                    <a:bodyPr/>
                    <a:lstStyle/>
                    <a:p>
                      <a:pPr>
                        <a:buNone/>
                      </a:pPr>
                      <a:r>
                        <a:rPr lang="en-IN" dirty="0"/>
                        <a:t>• Streamlined leave management</a:t>
                      </a:r>
                    </a:p>
                    <a:p>
                      <a:pPr>
                        <a:buNone/>
                      </a:pPr>
                      <a:r>
                        <a:rPr lang="en-IN" dirty="0"/>
                        <a:t>• Improved HR reporting</a:t>
                      </a:r>
                    </a:p>
                  </a:txBody>
                  <a:tcPr anchor="ctr"/>
                </a:tc>
                <a:tc>
                  <a:txBody>
                    <a:bodyPr/>
                    <a:lstStyle/>
                    <a:p>
                      <a:pPr>
                        <a:buNone/>
                      </a:pPr>
                      <a:r>
                        <a:rPr lang="en-IN" dirty="0"/>
                        <a:t>• University-specific system</a:t>
                      </a:r>
                    </a:p>
                    <a:p>
                      <a:pPr>
                        <a:buNone/>
                      </a:pPr>
                      <a:r>
                        <a:rPr lang="en-IN" dirty="0"/>
                        <a:t>• No distributed or asynchronous architecture</a:t>
                      </a:r>
                    </a:p>
                  </a:txBody>
                  <a:tcPr anchor="ctr"/>
                </a:tc>
                <a:extLst>
                  <a:ext uri="{0D108BD9-81ED-4DB2-BD59-A6C34878D82A}">
                    <a16:rowId xmlns:a16="http://schemas.microsoft.com/office/drawing/2014/main" val="3458826494"/>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081486" y="166246"/>
            <a:ext cx="3992121" cy="523220"/>
          </a:xfrm>
          <a:prstGeom prst="rect">
            <a:avLst/>
          </a:prstGeom>
          <a:noFill/>
        </p:spPr>
        <p:txBody>
          <a:bodyPr wrap="square" rtlCol="0">
            <a:spAutoFit/>
          </a:bodyPr>
          <a:lstStyle/>
          <a:p>
            <a:pPr algn="ctr"/>
            <a:r>
              <a:rPr lang="en-IN" sz="2800" b="1" dirty="0">
                <a:solidFill>
                  <a:srgbClr val="0064C8"/>
                </a:solidFill>
                <a:latin typeface="Montserrat" pitchFamily="2" charset="0"/>
                <a:ea typeface="Cambria"/>
                <a:cs typeface="Times New Roman" panose="02020603050405020304" pitchFamily="18" charset="0"/>
              </a:rPr>
              <a:t>Literature Survey</a:t>
            </a:r>
            <a:endParaRPr lang="en-IN" sz="2800" b="1" dirty="0">
              <a:latin typeface="Montserrat" pitchFamily="2"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latin typeface="Montserrat" pitchFamily="2" charset="0"/>
              </a:rPr>
              <a:t>5</a:t>
            </a:fld>
            <a:endParaRPr lang="en-IN">
              <a:latin typeface="Montserrat" pitchFamily="2" charset="0"/>
            </a:endParaRPr>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Rounded Rectangle 5"/>
          <p:cNvSpPr/>
          <p:nvPr/>
        </p:nvSpPr>
        <p:spPr>
          <a:xfrm>
            <a:off x="585216" y="1417320"/>
            <a:ext cx="3520440" cy="3794760"/>
          </a:xfrm>
          <a:prstGeom prst="roundRect">
            <a:avLst/>
          </a:prstGeom>
          <a:solidFill>
            <a:srgbClr val="E1EEF8"/>
          </a:solidFill>
          <a:ln w="12700">
            <a:solidFill>
              <a:srgbClr val="1271B9"/>
            </a:solid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r>
              <a:rPr sz="2000" b="1" dirty="0">
                <a:solidFill>
                  <a:srgbClr val="1271B9"/>
                </a:solidFill>
                <a:latin typeface="Aptos"/>
              </a:rPr>
              <a:t>Monolithic Coupling</a:t>
            </a:r>
          </a:p>
          <a:p>
            <a:pPr algn="ctr">
              <a:spcBef>
                <a:spcPts val="400"/>
              </a:spcBef>
            </a:pPr>
            <a:r>
              <a:rPr dirty="0">
                <a:solidFill>
                  <a:srgbClr val="191919"/>
                </a:solidFill>
                <a:latin typeface="Aptos"/>
              </a:rPr>
              <a:t>Identity, employee data, leave processing and notifications can become tightly coupled.</a:t>
            </a:r>
          </a:p>
        </p:txBody>
      </p:sp>
      <p:sp>
        <p:nvSpPr>
          <p:cNvPr id="7" name="Rounded Rectangle 6"/>
          <p:cNvSpPr/>
          <p:nvPr/>
        </p:nvSpPr>
        <p:spPr>
          <a:xfrm>
            <a:off x="4315968" y="1417320"/>
            <a:ext cx="3520440" cy="3794760"/>
          </a:xfrm>
          <a:prstGeom prst="roundRect">
            <a:avLst/>
          </a:prstGeom>
          <a:solidFill>
            <a:srgbClr val="E1EEF8"/>
          </a:solidFill>
          <a:ln w="12700">
            <a:solidFill>
              <a:srgbClr val="1271B9"/>
            </a:solid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r>
              <a:rPr sz="2000" b="1" dirty="0">
                <a:solidFill>
                  <a:srgbClr val="1271B9"/>
                </a:solidFill>
                <a:latin typeface="Aptos"/>
              </a:rPr>
              <a:t>Communication Coupling</a:t>
            </a:r>
          </a:p>
          <a:p>
            <a:pPr algn="ctr">
              <a:spcBef>
                <a:spcPts val="400"/>
              </a:spcBef>
            </a:pPr>
            <a:r>
              <a:rPr dirty="0">
                <a:solidFill>
                  <a:srgbClr val="191919"/>
                </a:solidFill>
                <a:latin typeface="Aptos"/>
              </a:rPr>
              <a:t>Notification processing need not block the core leave operation.</a:t>
            </a:r>
          </a:p>
        </p:txBody>
      </p:sp>
      <p:sp>
        <p:nvSpPr>
          <p:cNvPr id="8" name="Rounded Rectangle 7"/>
          <p:cNvSpPr/>
          <p:nvPr/>
        </p:nvSpPr>
        <p:spPr>
          <a:xfrm>
            <a:off x="7946136" y="1417320"/>
            <a:ext cx="3520440" cy="3794760"/>
          </a:xfrm>
          <a:prstGeom prst="roundRect">
            <a:avLst/>
          </a:prstGeom>
          <a:solidFill>
            <a:srgbClr val="E1EEF8"/>
          </a:solidFill>
          <a:ln w="12700">
            <a:solidFill>
              <a:srgbClr val="1271B9"/>
            </a:solid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r>
              <a:rPr sz="2000" b="1" dirty="0">
                <a:solidFill>
                  <a:srgbClr val="1271B9"/>
                </a:solidFill>
                <a:latin typeface="Aptos"/>
              </a:rPr>
              <a:t>Security &amp; Data Coupling</a:t>
            </a:r>
          </a:p>
          <a:p>
            <a:pPr algn="ctr">
              <a:spcBef>
                <a:spcPts val="400"/>
              </a:spcBef>
            </a:pPr>
            <a:r>
              <a:rPr dirty="0">
                <a:solidFill>
                  <a:srgbClr val="191919"/>
                </a:solidFill>
                <a:latin typeface="Aptos"/>
              </a:rPr>
              <a:t>Role checks alone are insufficient and shared databases increase coupling.</a:t>
            </a:r>
          </a:p>
        </p:txBody>
      </p:sp>
      <p:sp>
        <p:nvSpPr>
          <p:cNvPr id="9" name="TextBox 8"/>
          <p:cNvSpPr txBox="1"/>
          <p:nvPr/>
        </p:nvSpPr>
        <p:spPr>
          <a:xfrm>
            <a:off x="914400" y="5486400"/>
            <a:ext cx="10058400" cy="502920"/>
          </a:xfrm>
          <a:prstGeom prst="rect">
            <a:avLst/>
          </a:prstGeom>
          <a:noFill/>
        </p:spPr>
        <p:txBody>
          <a:bodyPr wrap="square" lIns="45720" tIns="18288" rIns="45720" bIns="18288">
            <a:spAutoFit/>
          </a:bodyPr>
          <a:lstStyle/>
          <a:p>
            <a:pPr algn="ctr"/>
            <a:r>
              <a:rPr sz="1600" b="1">
                <a:solidFill>
                  <a:srgbClr val="1271B9"/>
                </a:solidFill>
                <a:latin typeface="Aptos"/>
              </a:rPr>
              <a:t>Project gap addressed through service separation, event-driven communication, security and independent data ownership.</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11" name="REFINED_CARD"/>
          <p:cNvSpPr/>
          <p:nvPr/>
        </p:nvSpPr>
        <p:spPr>
          <a:xfrm>
            <a:off x="588265" y="1417320"/>
            <a:ext cx="3566160" cy="4139762"/>
          </a:xfrm>
          <a:prstGeom prst="roundRect">
            <a:avLst/>
          </a:prstGeom>
          <a:solidFill>
            <a:srgbClr val="E7F1F8"/>
          </a:solidFill>
          <a:ln w="15240">
            <a:solidFill>
              <a:srgbClr val="1271B9"/>
            </a:solidFill>
          </a:ln>
        </p:spPr>
        <p:style>
          <a:lnRef idx="1">
            <a:schemeClr val="accent1"/>
          </a:lnRef>
          <a:fillRef idx="3">
            <a:schemeClr val="accent1"/>
          </a:fillRef>
          <a:effectRef idx="2">
            <a:schemeClr val="accent1"/>
          </a:effectRef>
          <a:fontRef idx="minor">
            <a:schemeClr val="lt1"/>
          </a:fontRef>
        </p:style>
        <p:txBody>
          <a:bodyPr wrap="square" lIns="118872" tIns="91440" rIns="118872" rtlCol="0" anchor="t"/>
          <a:lstStyle/>
          <a:p>
            <a:pPr algn="just"/>
            <a:r>
              <a:rPr b="1" dirty="0">
                <a:solidFill>
                  <a:srgbClr val="1271B9"/>
                </a:solidFill>
                <a:latin typeface="Aptos"/>
              </a:rPr>
              <a:t>1. Service-Oriented Design</a:t>
            </a:r>
          </a:p>
          <a:p>
            <a:pPr algn="just">
              <a:spcBef>
                <a:spcPts val="800"/>
              </a:spcBef>
            </a:pPr>
            <a:r>
              <a:rPr sz="1600" b="1" u="sng" dirty="0">
                <a:solidFill>
                  <a:srgbClr val="232323"/>
                </a:solidFill>
                <a:latin typeface="Aptos"/>
              </a:rPr>
              <a:t>Four independent services</a:t>
            </a:r>
            <a:endParaRPr lang="en-IN" sz="1600" b="1" u="sng" dirty="0">
              <a:solidFill>
                <a:srgbClr val="232323"/>
              </a:solidFill>
              <a:latin typeface="Aptos"/>
            </a:endParaRPr>
          </a:p>
          <a:p>
            <a:pPr marL="285750" indent="-285750">
              <a:spcBef>
                <a:spcPts val="800"/>
              </a:spcBef>
              <a:buFont typeface="Arial" panose="020B0604020202020204" pitchFamily="34" charset="0"/>
              <a:buChar char="•"/>
            </a:pPr>
            <a:r>
              <a:rPr sz="1600" dirty="0">
                <a:solidFill>
                  <a:srgbClr val="232323"/>
                </a:solidFill>
                <a:latin typeface="Aptos"/>
              </a:rPr>
              <a:t>User / Authentication</a:t>
            </a:r>
            <a:br>
              <a:rPr lang="en-IN" sz="1600" dirty="0">
                <a:solidFill>
                  <a:srgbClr val="232323"/>
                </a:solidFill>
                <a:latin typeface="Aptos"/>
              </a:rPr>
            </a:br>
            <a:r>
              <a:rPr sz="1600" dirty="0">
                <a:solidFill>
                  <a:srgbClr val="232323"/>
                </a:solidFill>
                <a:latin typeface="Aptos"/>
              </a:rPr>
              <a:t>Employee</a:t>
            </a:r>
            <a:r>
              <a:rPr lang="en-IN" sz="1600" dirty="0">
                <a:solidFill>
                  <a:srgbClr val="232323"/>
                </a:solidFill>
                <a:latin typeface="Aptos"/>
              </a:rPr>
              <a:t> </a:t>
            </a:r>
            <a:r>
              <a:rPr sz="1600" dirty="0">
                <a:solidFill>
                  <a:srgbClr val="232323"/>
                </a:solidFill>
                <a:latin typeface="Aptos"/>
              </a:rPr>
              <a:t>Management</a:t>
            </a:r>
            <a:br>
              <a:rPr lang="en-IN" sz="1600" dirty="0">
                <a:solidFill>
                  <a:srgbClr val="232323"/>
                </a:solidFill>
                <a:latin typeface="Aptos"/>
              </a:rPr>
            </a:br>
            <a:r>
              <a:rPr sz="1600" dirty="0">
                <a:solidFill>
                  <a:srgbClr val="232323"/>
                </a:solidFill>
                <a:latin typeface="Aptos"/>
              </a:rPr>
              <a:t>Leave Management</a:t>
            </a:r>
            <a:br>
              <a:rPr lang="en-IN" sz="1600" dirty="0">
                <a:solidFill>
                  <a:srgbClr val="232323"/>
                </a:solidFill>
                <a:latin typeface="Aptos"/>
              </a:rPr>
            </a:br>
            <a:r>
              <a:rPr sz="1600" dirty="0">
                <a:solidFill>
                  <a:srgbClr val="232323"/>
                </a:solidFill>
                <a:latin typeface="Aptos"/>
              </a:rPr>
              <a:t>Notification
Clear service responsibilities
Database ownership per service</a:t>
            </a:r>
          </a:p>
        </p:txBody>
      </p:sp>
      <p:sp>
        <p:nvSpPr>
          <p:cNvPr id="12" name="REFINED_CARD"/>
          <p:cNvSpPr/>
          <p:nvPr/>
        </p:nvSpPr>
        <p:spPr>
          <a:xfrm>
            <a:off x="4312920" y="1417320"/>
            <a:ext cx="3566160" cy="4160520"/>
          </a:xfrm>
          <a:prstGeom prst="roundRect">
            <a:avLst/>
          </a:prstGeom>
          <a:solidFill>
            <a:srgbClr val="E7F1F8"/>
          </a:solidFill>
          <a:ln w="15240">
            <a:solidFill>
              <a:srgbClr val="1271B9"/>
            </a:solidFill>
          </a:ln>
        </p:spPr>
        <p:style>
          <a:lnRef idx="1">
            <a:schemeClr val="accent1"/>
          </a:lnRef>
          <a:fillRef idx="3">
            <a:schemeClr val="accent1"/>
          </a:fillRef>
          <a:effectRef idx="2">
            <a:schemeClr val="accent1"/>
          </a:effectRef>
          <a:fontRef idx="minor">
            <a:schemeClr val="lt1"/>
          </a:fontRef>
        </p:style>
        <p:txBody>
          <a:bodyPr wrap="square" lIns="118872" tIns="91440" rIns="118872" rtlCol="0" anchor="t"/>
          <a:lstStyle/>
          <a:p>
            <a:pPr algn="ctr"/>
            <a:r>
              <a:rPr b="1" dirty="0">
                <a:solidFill>
                  <a:srgbClr val="1271B9"/>
                </a:solidFill>
                <a:latin typeface="Aptos"/>
              </a:rPr>
              <a:t>2. Hybrid Communication</a:t>
            </a:r>
          </a:p>
          <a:p>
            <a:pPr>
              <a:spcBef>
                <a:spcPts val="800"/>
              </a:spcBef>
            </a:pPr>
            <a:r>
              <a:rPr sz="1500" dirty="0">
                <a:solidFill>
                  <a:srgbClr val="232323"/>
                </a:solidFill>
                <a:latin typeface="Aptos"/>
              </a:rPr>
              <a:t>• REST APIs for immediate operations
• Apache Kafka for asynchronous events
• LEAVE_APPLIED → manager notification
• LEAVE_APPROVED / LEAVE_REJECTED → employee notification
This reduces direct coupling between leave processing and notifications.</a:t>
            </a:r>
          </a:p>
        </p:txBody>
      </p:sp>
      <p:sp>
        <p:nvSpPr>
          <p:cNvPr id="13" name="REFINED_CARD"/>
          <p:cNvSpPr/>
          <p:nvPr/>
        </p:nvSpPr>
        <p:spPr>
          <a:xfrm>
            <a:off x="8037575" y="1417320"/>
            <a:ext cx="3566160" cy="4160520"/>
          </a:xfrm>
          <a:prstGeom prst="roundRect">
            <a:avLst/>
          </a:prstGeom>
          <a:solidFill>
            <a:srgbClr val="E7F1F8"/>
          </a:solidFill>
          <a:ln w="15240">
            <a:solidFill>
              <a:srgbClr val="1271B9"/>
            </a:solidFill>
          </a:ln>
        </p:spPr>
        <p:style>
          <a:lnRef idx="1">
            <a:schemeClr val="accent1"/>
          </a:lnRef>
          <a:fillRef idx="3">
            <a:schemeClr val="accent1"/>
          </a:fillRef>
          <a:effectRef idx="2">
            <a:schemeClr val="accent1"/>
          </a:effectRef>
          <a:fontRef idx="minor">
            <a:schemeClr val="lt1"/>
          </a:fontRef>
        </p:style>
        <p:txBody>
          <a:bodyPr wrap="square" lIns="118872" tIns="91440" rIns="118872" rtlCol="0" anchor="t"/>
          <a:lstStyle/>
          <a:p>
            <a:pPr algn="ctr"/>
            <a:r>
              <a:rPr sz="2000" b="1" dirty="0">
                <a:solidFill>
                  <a:srgbClr val="1271B9"/>
                </a:solidFill>
                <a:latin typeface="Aptos"/>
              </a:rPr>
              <a:t>3. Security + Engineering</a:t>
            </a:r>
          </a:p>
          <a:p>
            <a:pPr>
              <a:spcBef>
                <a:spcPts val="800"/>
              </a:spcBef>
            </a:pPr>
            <a:r>
              <a:rPr sz="1600" dirty="0">
                <a:solidFill>
                  <a:srgbClr val="232323"/>
                </a:solidFill>
                <a:latin typeface="Aptos"/>
              </a:rPr>
              <a:t>• JWT authentication
• Role-based authorization
• Manager ownership validation
• CORS configuration
• JUnit + integration testing
• Postman API validation
• </a:t>
            </a:r>
            <a:r>
              <a:rPr sz="1600" dirty="0" err="1">
                <a:solidFill>
                  <a:srgbClr val="232323"/>
                </a:solidFill>
                <a:latin typeface="Aptos"/>
              </a:rPr>
              <a:t>Semgrep</a:t>
            </a:r>
            <a:r>
              <a:rPr sz="1600" dirty="0">
                <a:solidFill>
                  <a:srgbClr val="232323"/>
                </a:solidFill>
                <a:latin typeface="Aptos"/>
              </a:rPr>
              <a:t> security analysis
• GitHub Actions CI + Jira workflow</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5" name="TextBox 54">
            <a:extLst>
              <a:ext uri="{FF2B5EF4-FFF2-40B4-BE49-F238E27FC236}">
                <a16:creationId xmlns:a16="http://schemas.microsoft.com/office/drawing/2014/main" id="{DC7088A0-0751-9D07-836D-F0039D03AEA1}"/>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pic>
        <p:nvPicPr>
          <p:cNvPr id="59" name="Picture 58">
            <a:extLst>
              <a:ext uri="{FF2B5EF4-FFF2-40B4-BE49-F238E27FC236}">
                <a16:creationId xmlns:a16="http://schemas.microsoft.com/office/drawing/2014/main" id="{0E96B121-7FA7-543D-CE00-6A5F7EAD3E71}"/>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2" name="Table 1">
            <a:extLst>
              <a:ext uri="{FF2B5EF4-FFF2-40B4-BE49-F238E27FC236}">
                <a16:creationId xmlns:a16="http://schemas.microsoft.com/office/drawing/2014/main" id="{27AD23FF-27A8-F1C4-D5AF-D537AA4A04DD}"/>
              </a:ext>
            </a:extLst>
          </p:cNvPr>
          <p:cNvGraphicFramePr>
            <a:graphicFrameLocks noGrp="1"/>
          </p:cNvGraphicFramePr>
          <p:nvPr>
            <p:extLst>
              <p:ext uri="{D42A27DB-BD31-4B8C-83A1-F6EECF244321}">
                <p14:modId xmlns:p14="http://schemas.microsoft.com/office/powerpoint/2010/main" val="3679329142"/>
              </p:ext>
            </p:extLst>
          </p:nvPr>
        </p:nvGraphicFramePr>
        <p:xfrm>
          <a:off x="978568" y="1312697"/>
          <a:ext cx="10042359" cy="3754120"/>
        </p:xfrm>
        <a:graphic>
          <a:graphicData uri="http://schemas.openxmlformats.org/drawingml/2006/table">
            <a:tbl>
              <a:tblPr firstRow="1" bandRow="1">
                <a:tableStyleId>{5C22544A-7EE6-4342-B048-85BDC9FD1C3A}</a:tableStyleId>
              </a:tblPr>
              <a:tblGrid>
                <a:gridCol w="3347453">
                  <a:extLst>
                    <a:ext uri="{9D8B030D-6E8A-4147-A177-3AD203B41FA5}">
                      <a16:colId xmlns:a16="http://schemas.microsoft.com/office/drawing/2014/main" val="2534520905"/>
                    </a:ext>
                  </a:extLst>
                </a:gridCol>
                <a:gridCol w="3347453">
                  <a:extLst>
                    <a:ext uri="{9D8B030D-6E8A-4147-A177-3AD203B41FA5}">
                      <a16:colId xmlns:a16="http://schemas.microsoft.com/office/drawing/2014/main" val="303748712"/>
                    </a:ext>
                  </a:extLst>
                </a:gridCol>
                <a:gridCol w="3347453">
                  <a:extLst>
                    <a:ext uri="{9D8B030D-6E8A-4147-A177-3AD203B41FA5}">
                      <a16:colId xmlns:a16="http://schemas.microsoft.com/office/drawing/2014/main" val="758799776"/>
                    </a:ext>
                  </a:extLst>
                </a:gridCol>
              </a:tblGrid>
              <a:tr h="370840">
                <a:tc>
                  <a:txBody>
                    <a:bodyPr/>
                    <a:lstStyle/>
                    <a:p>
                      <a:pPr>
                        <a:buNone/>
                      </a:pPr>
                      <a:r>
                        <a:rPr lang="en-IN" dirty="0"/>
                        <a:t>Week</a:t>
                      </a:r>
                    </a:p>
                  </a:txBody>
                  <a:tcPr anchor="ctr"/>
                </a:tc>
                <a:tc>
                  <a:txBody>
                    <a:bodyPr/>
                    <a:lstStyle/>
                    <a:p>
                      <a:pPr>
                        <a:buNone/>
                      </a:pPr>
                      <a:r>
                        <a:rPr lang="en-IN" dirty="0"/>
                        <a:t>Implementation Work</a:t>
                      </a:r>
                    </a:p>
                  </a:txBody>
                  <a:tcPr anchor="ctr"/>
                </a:tc>
                <a:tc>
                  <a:txBody>
                    <a:bodyPr/>
                    <a:lstStyle/>
                    <a:p>
                      <a:pPr>
                        <a:buNone/>
                      </a:pPr>
                      <a:r>
                        <a:rPr lang="en-IN" dirty="0"/>
                        <a:t>Deliverable</a:t>
                      </a:r>
                    </a:p>
                  </a:txBody>
                  <a:tcPr anchor="ctr"/>
                </a:tc>
                <a:extLst>
                  <a:ext uri="{0D108BD9-81ED-4DB2-BD59-A6C34878D82A}">
                    <a16:rowId xmlns:a16="http://schemas.microsoft.com/office/drawing/2014/main" val="3999749356"/>
                  </a:ext>
                </a:extLst>
              </a:tr>
              <a:tr h="370840">
                <a:tc>
                  <a:txBody>
                    <a:bodyPr/>
                    <a:lstStyle/>
                    <a:p>
                      <a:pPr>
                        <a:buNone/>
                      </a:pPr>
                      <a:r>
                        <a:rPr lang="en-IN" b="1"/>
                        <a:t>Week 1</a:t>
                      </a:r>
                      <a:endParaRPr lang="en-IN"/>
                    </a:p>
                  </a:txBody>
                  <a:tcPr anchor="ctr"/>
                </a:tc>
                <a:tc>
                  <a:txBody>
                    <a:bodyPr/>
                    <a:lstStyle/>
                    <a:p>
                      <a:pPr>
                        <a:buNone/>
                      </a:pPr>
                      <a:r>
                        <a:rPr lang="en-IN"/>
                        <a:t>Project setup, requirements, architecture and repository structure</a:t>
                      </a:r>
                    </a:p>
                  </a:txBody>
                  <a:tcPr anchor="ctr"/>
                </a:tc>
                <a:tc>
                  <a:txBody>
                    <a:bodyPr/>
                    <a:lstStyle/>
                    <a:p>
                      <a:pPr>
                        <a:buNone/>
                      </a:pPr>
                      <a:r>
                        <a:rPr lang="en-IN" dirty="0"/>
                        <a:t>Project foundation</a:t>
                      </a:r>
                    </a:p>
                  </a:txBody>
                  <a:tcPr anchor="ctr"/>
                </a:tc>
                <a:extLst>
                  <a:ext uri="{0D108BD9-81ED-4DB2-BD59-A6C34878D82A}">
                    <a16:rowId xmlns:a16="http://schemas.microsoft.com/office/drawing/2014/main" val="883040751"/>
                  </a:ext>
                </a:extLst>
              </a:tr>
              <a:tr h="370840">
                <a:tc>
                  <a:txBody>
                    <a:bodyPr/>
                    <a:lstStyle/>
                    <a:p>
                      <a:pPr>
                        <a:buNone/>
                      </a:pPr>
                      <a:r>
                        <a:rPr lang="en-IN" b="1"/>
                        <a:t>Week 2</a:t>
                      </a:r>
                      <a:endParaRPr lang="en-IN"/>
                    </a:p>
                  </a:txBody>
                  <a:tcPr anchor="ctr"/>
                </a:tc>
                <a:tc>
                  <a:txBody>
                    <a:bodyPr/>
                    <a:lstStyle/>
                    <a:p>
                      <a:pPr>
                        <a:buNone/>
                      </a:pPr>
                      <a:r>
                        <a:rPr lang="en-IN"/>
                        <a:t>Create User/Auth, Employee, Leave and Notification microservices</a:t>
                      </a:r>
                    </a:p>
                  </a:txBody>
                  <a:tcPr anchor="ctr"/>
                </a:tc>
                <a:tc>
                  <a:txBody>
                    <a:bodyPr/>
                    <a:lstStyle/>
                    <a:p>
                      <a:pPr>
                        <a:buNone/>
                      </a:pPr>
                      <a:r>
                        <a:rPr lang="en-IN"/>
                        <a:t>Four service skeletons</a:t>
                      </a:r>
                    </a:p>
                  </a:txBody>
                  <a:tcPr anchor="ctr"/>
                </a:tc>
                <a:extLst>
                  <a:ext uri="{0D108BD9-81ED-4DB2-BD59-A6C34878D82A}">
                    <a16:rowId xmlns:a16="http://schemas.microsoft.com/office/drawing/2014/main" val="71163992"/>
                  </a:ext>
                </a:extLst>
              </a:tr>
              <a:tr h="370840">
                <a:tc>
                  <a:txBody>
                    <a:bodyPr/>
                    <a:lstStyle/>
                    <a:p>
                      <a:pPr>
                        <a:buNone/>
                      </a:pPr>
                      <a:r>
                        <a:rPr lang="en-IN" b="1"/>
                        <a:t>Week 3</a:t>
                      </a:r>
                      <a:endParaRPr lang="en-IN"/>
                    </a:p>
                  </a:txBody>
                  <a:tcPr anchor="ctr"/>
                </a:tc>
                <a:tc>
                  <a:txBody>
                    <a:bodyPr/>
                    <a:lstStyle/>
                    <a:p>
                      <a:pPr>
                        <a:buNone/>
                      </a:pPr>
                      <a:r>
                        <a:rPr lang="en-IN"/>
                        <a:t>Configure Eureka service discovery and Spring Cloud Gateway</a:t>
                      </a:r>
                    </a:p>
                  </a:txBody>
                  <a:tcPr anchor="ctr"/>
                </a:tc>
                <a:tc>
                  <a:txBody>
                    <a:bodyPr/>
                    <a:lstStyle/>
                    <a:p>
                      <a:pPr>
                        <a:buNone/>
                      </a:pPr>
                      <a:r>
                        <a:rPr lang="en-IN" dirty="0"/>
                        <a:t>Service discovery + Gateway</a:t>
                      </a:r>
                    </a:p>
                  </a:txBody>
                  <a:tcPr anchor="ctr"/>
                </a:tc>
                <a:extLst>
                  <a:ext uri="{0D108BD9-81ED-4DB2-BD59-A6C34878D82A}">
                    <a16:rowId xmlns:a16="http://schemas.microsoft.com/office/drawing/2014/main" val="3322990095"/>
                  </a:ext>
                </a:extLst>
              </a:tr>
              <a:tr h="370840">
                <a:tc>
                  <a:txBody>
                    <a:bodyPr/>
                    <a:lstStyle/>
                    <a:p>
                      <a:pPr>
                        <a:buNone/>
                      </a:pPr>
                      <a:r>
                        <a:rPr lang="en-IN" b="1"/>
                        <a:t>Week 4</a:t>
                      </a:r>
                      <a:endParaRPr lang="en-IN"/>
                    </a:p>
                  </a:txBody>
                  <a:tcPr anchor="ctr"/>
                </a:tc>
                <a:tc>
                  <a:txBody>
                    <a:bodyPr/>
                    <a:lstStyle/>
                    <a:p>
                      <a:pPr>
                        <a:buNone/>
                      </a:pPr>
                      <a:r>
                        <a:rPr lang="en-IN"/>
                        <a:t>Implement JWT authentication and role-based authorization</a:t>
                      </a:r>
                    </a:p>
                  </a:txBody>
                  <a:tcPr anchor="ctr"/>
                </a:tc>
                <a:tc>
                  <a:txBody>
                    <a:bodyPr/>
                    <a:lstStyle/>
                    <a:p>
                      <a:pPr>
                        <a:buNone/>
                      </a:pPr>
                      <a:r>
                        <a:rPr lang="en-IN" dirty="0"/>
                        <a:t>Secure login + RBAC</a:t>
                      </a:r>
                    </a:p>
                  </a:txBody>
                  <a:tcPr anchor="ctr"/>
                </a:tc>
                <a:extLst>
                  <a:ext uri="{0D108BD9-81ED-4DB2-BD59-A6C34878D82A}">
                    <a16:rowId xmlns:a16="http://schemas.microsoft.com/office/drawing/2014/main" val="3692926206"/>
                  </a:ext>
                </a:extLst>
              </a:tr>
            </a:tbl>
          </a:graphicData>
        </a:graphic>
      </p:graphicFrame>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02F1F-18E9-2B88-3E71-8138C6724253}"/>
            </a:ext>
          </a:extLst>
        </p:cNvPr>
        <p:cNvGrpSpPr/>
        <p:nvPr/>
      </p:nvGrpSpPr>
      <p:grpSpPr>
        <a:xfrm>
          <a:off x="0" y="0"/>
          <a:ext cx="0" cy="0"/>
          <a:chOff x="0" y="0"/>
          <a:chExt cx="0" cy="0"/>
        </a:xfrm>
      </p:grpSpPr>
      <p:sp>
        <p:nvSpPr>
          <p:cNvPr id="55" name="TextBox 54">
            <a:extLst>
              <a:ext uri="{FF2B5EF4-FFF2-40B4-BE49-F238E27FC236}">
                <a16:creationId xmlns:a16="http://schemas.microsoft.com/office/drawing/2014/main" id="{2912CB6B-DDEA-14F0-A8C1-E342822CCF91}"/>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pic>
        <p:nvPicPr>
          <p:cNvPr id="59" name="Picture 58">
            <a:extLst>
              <a:ext uri="{FF2B5EF4-FFF2-40B4-BE49-F238E27FC236}">
                <a16:creationId xmlns:a16="http://schemas.microsoft.com/office/drawing/2014/main" id="{B695C777-FCC9-3B5F-E08B-E9ED2A9B3A88}"/>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3" name="Table 2">
            <a:extLst>
              <a:ext uri="{FF2B5EF4-FFF2-40B4-BE49-F238E27FC236}">
                <a16:creationId xmlns:a16="http://schemas.microsoft.com/office/drawing/2014/main" id="{4ED51BFA-B7D9-F31B-5313-357CB9BA4F2A}"/>
              </a:ext>
            </a:extLst>
          </p:cNvPr>
          <p:cNvGraphicFramePr>
            <a:graphicFrameLocks noGrp="1"/>
          </p:cNvGraphicFramePr>
          <p:nvPr>
            <p:extLst>
              <p:ext uri="{D42A27DB-BD31-4B8C-83A1-F6EECF244321}">
                <p14:modId xmlns:p14="http://schemas.microsoft.com/office/powerpoint/2010/main" val="3306264487"/>
              </p:ext>
            </p:extLst>
          </p:nvPr>
        </p:nvGraphicFramePr>
        <p:xfrm>
          <a:off x="389022" y="1408529"/>
          <a:ext cx="11642556" cy="5120640"/>
        </p:xfrm>
        <a:graphic>
          <a:graphicData uri="http://schemas.openxmlformats.org/drawingml/2006/table">
            <a:tbl>
              <a:tblPr firstRow="1" bandRow="1">
                <a:tableStyleId>{5C22544A-7EE6-4342-B048-85BDC9FD1C3A}</a:tableStyleId>
              </a:tblPr>
              <a:tblGrid>
                <a:gridCol w="3880852">
                  <a:extLst>
                    <a:ext uri="{9D8B030D-6E8A-4147-A177-3AD203B41FA5}">
                      <a16:colId xmlns:a16="http://schemas.microsoft.com/office/drawing/2014/main" val="3535593298"/>
                    </a:ext>
                  </a:extLst>
                </a:gridCol>
                <a:gridCol w="3880852">
                  <a:extLst>
                    <a:ext uri="{9D8B030D-6E8A-4147-A177-3AD203B41FA5}">
                      <a16:colId xmlns:a16="http://schemas.microsoft.com/office/drawing/2014/main" val="2335239431"/>
                    </a:ext>
                  </a:extLst>
                </a:gridCol>
                <a:gridCol w="3880852">
                  <a:extLst>
                    <a:ext uri="{9D8B030D-6E8A-4147-A177-3AD203B41FA5}">
                      <a16:colId xmlns:a16="http://schemas.microsoft.com/office/drawing/2014/main" val="2296571678"/>
                    </a:ext>
                  </a:extLst>
                </a:gridCol>
              </a:tblGrid>
              <a:tr h="597965">
                <a:tc>
                  <a:txBody>
                    <a:bodyPr/>
                    <a:lstStyle/>
                    <a:p>
                      <a:pPr>
                        <a:buNone/>
                      </a:pPr>
                      <a:r>
                        <a:rPr lang="en-IN" b="1" dirty="0">
                          <a:solidFill>
                            <a:schemeClr val="tx1"/>
                          </a:solidFill>
                        </a:rPr>
                        <a:t>Week 5</a:t>
                      </a:r>
                      <a:endParaRPr lang="en-IN" dirty="0">
                        <a:solidFill>
                          <a:schemeClr val="tx1"/>
                        </a:solidFill>
                      </a:endParaRPr>
                    </a:p>
                  </a:txBody>
                  <a:tcPr anchor="ctr">
                    <a:solidFill>
                      <a:srgbClr val="E7EAED"/>
                    </a:solidFill>
                  </a:tcPr>
                </a:tc>
                <a:tc>
                  <a:txBody>
                    <a:bodyPr/>
                    <a:lstStyle/>
                    <a:p>
                      <a:pPr>
                        <a:buNone/>
                      </a:pPr>
                      <a:r>
                        <a:rPr lang="en-IN" dirty="0">
                          <a:solidFill>
                            <a:schemeClr val="tx1"/>
                          </a:solidFill>
                        </a:rPr>
                        <a:t>Develop Employee Management service and manager relationships</a:t>
                      </a:r>
                    </a:p>
                  </a:txBody>
                  <a:tcPr anchor="ctr">
                    <a:solidFill>
                      <a:srgbClr val="E7EAED"/>
                    </a:solidFill>
                  </a:tcPr>
                </a:tc>
                <a:tc>
                  <a:txBody>
                    <a:bodyPr/>
                    <a:lstStyle/>
                    <a:p>
                      <a:pPr>
                        <a:buNone/>
                      </a:pPr>
                      <a:r>
                        <a:rPr lang="en-IN" dirty="0">
                          <a:solidFill>
                            <a:schemeClr val="tx1"/>
                          </a:solidFill>
                        </a:rPr>
                        <a:t>Employee service</a:t>
                      </a:r>
                    </a:p>
                  </a:txBody>
                  <a:tcPr anchor="ctr">
                    <a:solidFill>
                      <a:srgbClr val="E7EAED"/>
                    </a:solidFill>
                  </a:tcPr>
                </a:tc>
                <a:extLst>
                  <a:ext uri="{0D108BD9-81ED-4DB2-BD59-A6C34878D82A}">
                    <a16:rowId xmlns:a16="http://schemas.microsoft.com/office/drawing/2014/main" val="1048858871"/>
                  </a:ext>
                </a:extLst>
              </a:tr>
              <a:tr h="597965">
                <a:tc>
                  <a:txBody>
                    <a:bodyPr/>
                    <a:lstStyle/>
                    <a:p>
                      <a:pPr>
                        <a:buNone/>
                      </a:pPr>
                      <a:r>
                        <a:rPr lang="en-IN" b="1"/>
                        <a:t>Week 6</a:t>
                      </a:r>
                      <a:endParaRPr lang="en-IN"/>
                    </a:p>
                  </a:txBody>
                  <a:tcPr anchor="ctr"/>
                </a:tc>
                <a:tc>
                  <a:txBody>
                    <a:bodyPr/>
                    <a:lstStyle/>
                    <a:p>
                      <a:pPr>
                        <a:buNone/>
                      </a:pPr>
                      <a:r>
                        <a:rPr lang="en-IN"/>
                        <a:t>Develop Leave Management service, validation and leave history</a:t>
                      </a:r>
                    </a:p>
                  </a:txBody>
                  <a:tcPr anchor="ctr"/>
                </a:tc>
                <a:tc>
                  <a:txBody>
                    <a:bodyPr/>
                    <a:lstStyle/>
                    <a:p>
                      <a:pPr>
                        <a:buNone/>
                      </a:pPr>
                      <a:r>
                        <a:rPr lang="en-IN" dirty="0"/>
                        <a:t>Leave service</a:t>
                      </a:r>
                    </a:p>
                  </a:txBody>
                  <a:tcPr anchor="ctr"/>
                </a:tc>
                <a:extLst>
                  <a:ext uri="{0D108BD9-81ED-4DB2-BD59-A6C34878D82A}">
                    <a16:rowId xmlns:a16="http://schemas.microsoft.com/office/drawing/2014/main" val="1413440860"/>
                  </a:ext>
                </a:extLst>
              </a:tr>
              <a:tr h="597965">
                <a:tc>
                  <a:txBody>
                    <a:bodyPr/>
                    <a:lstStyle/>
                    <a:p>
                      <a:pPr>
                        <a:buNone/>
                      </a:pPr>
                      <a:r>
                        <a:rPr lang="en-IN" b="1" dirty="0"/>
                        <a:t>Week 7</a:t>
                      </a:r>
                      <a:endParaRPr lang="en-IN" dirty="0"/>
                    </a:p>
                  </a:txBody>
                  <a:tcPr anchor="ctr"/>
                </a:tc>
                <a:tc>
                  <a:txBody>
                    <a:bodyPr/>
                    <a:lstStyle/>
                    <a:p>
                      <a:pPr>
                        <a:buNone/>
                      </a:pPr>
                      <a:r>
                        <a:rPr lang="en-IN" dirty="0"/>
                        <a:t>Implement leave approval/rejection workflow and REST integration</a:t>
                      </a:r>
                    </a:p>
                  </a:txBody>
                  <a:tcPr anchor="ctr"/>
                </a:tc>
                <a:tc>
                  <a:txBody>
                    <a:bodyPr/>
                    <a:lstStyle/>
                    <a:p>
                      <a:pPr>
                        <a:buNone/>
                      </a:pPr>
                      <a:r>
                        <a:rPr lang="en-IN" dirty="0"/>
                        <a:t>Leave workflow APIs</a:t>
                      </a:r>
                    </a:p>
                  </a:txBody>
                  <a:tcPr anchor="ctr"/>
                </a:tc>
                <a:extLst>
                  <a:ext uri="{0D108BD9-81ED-4DB2-BD59-A6C34878D82A}">
                    <a16:rowId xmlns:a16="http://schemas.microsoft.com/office/drawing/2014/main" val="3448820687"/>
                  </a:ext>
                </a:extLst>
              </a:tr>
              <a:tr h="597965">
                <a:tc>
                  <a:txBody>
                    <a:bodyPr/>
                    <a:lstStyle/>
                    <a:p>
                      <a:pPr>
                        <a:buNone/>
                      </a:pPr>
                      <a:r>
                        <a:rPr lang="en-IN" b="1" dirty="0"/>
                        <a:t>Week 8</a:t>
                      </a:r>
                      <a:endParaRPr lang="en-IN" dirty="0"/>
                    </a:p>
                  </a:txBody>
                  <a:tcPr anchor="ctr"/>
                </a:tc>
                <a:tc>
                  <a:txBody>
                    <a:bodyPr/>
                    <a:lstStyle/>
                    <a:p>
                      <a:pPr>
                        <a:buNone/>
                      </a:pPr>
                      <a:r>
                        <a:rPr lang="en-IN" dirty="0"/>
                        <a:t>Configure Kafka events for leave application, approval and rejection</a:t>
                      </a:r>
                    </a:p>
                  </a:txBody>
                  <a:tcPr anchor="ctr"/>
                </a:tc>
                <a:tc>
                  <a:txBody>
                    <a:bodyPr/>
                    <a:lstStyle/>
                    <a:p>
                      <a:pPr>
                        <a:buNone/>
                      </a:pPr>
                      <a:r>
                        <a:rPr lang="en-IN" dirty="0"/>
                        <a:t>Kafka event pipeline</a:t>
                      </a:r>
                    </a:p>
                  </a:txBody>
                  <a:tcPr anchor="ctr"/>
                </a:tc>
                <a:extLst>
                  <a:ext uri="{0D108BD9-81ED-4DB2-BD59-A6C34878D82A}">
                    <a16:rowId xmlns:a16="http://schemas.microsoft.com/office/drawing/2014/main" val="492912474"/>
                  </a:ext>
                </a:extLst>
              </a:tr>
              <a:tr h="597965">
                <a:tc>
                  <a:txBody>
                    <a:bodyPr/>
                    <a:lstStyle/>
                    <a:p>
                      <a:pPr>
                        <a:buNone/>
                      </a:pPr>
                      <a:r>
                        <a:rPr lang="en-IN" b="1"/>
                        <a:t>Week 9</a:t>
                      </a:r>
                      <a:endParaRPr lang="en-IN"/>
                    </a:p>
                  </a:txBody>
                  <a:tcPr anchor="ctr"/>
                </a:tc>
                <a:tc>
                  <a:txBody>
                    <a:bodyPr/>
                    <a:lstStyle/>
                    <a:p>
                      <a:pPr>
                        <a:buNone/>
                      </a:pPr>
                      <a:r>
                        <a:rPr lang="en-IN" dirty="0"/>
                        <a:t>Develop Notification service and integrate event-driven notifications</a:t>
                      </a:r>
                    </a:p>
                  </a:txBody>
                  <a:tcPr anchor="ctr"/>
                </a:tc>
                <a:tc>
                  <a:txBody>
                    <a:bodyPr/>
                    <a:lstStyle/>
                    <a:p>
                      <a:pPr>
                        <a:buNone/>
                      </a:pPr>
                      <a:r>
                        <a:rPr lang="en-IN" dirty="0"/>
                        <a:t>Notification workflow</a:t>
                      </a:r>
                    </a:p>
                  </a:txBody>
                  <a:tcPr anchor="ctr"/>
                </a:tc>
                <a:extLst>
                  <a:ext uri="{0D108BD9-81ED-4DB2-BD59-A6C34878D82A}">
                    <a16:rowId xmlns:a16="http://schemas.microsoft.com/office/drawing/2014/main" val="1068967796"/>
                  </a:ext>
                </a:extLst>
              </a:tr>
              <a:tr h="597965">
                <a:tc>
                  <a:txBody>
                    <a:bodyPr/>
                    <a:lstStyle/>
                    <a:p>
                      <a:pPr>
                        <a:buNone/>
                      </a:pPr>
                      <a:r>
                        <a:rPr lang="en-IN" b="1"/>
                        <a:t>Week 10</a:t>
                      </a:r>
                      <a:endParaRPr lang="en-IN"/>
                    </a:p>
                  </a:txBody>
                  <a:tcPr anchor="ctr"/>
                </a:tc>
                <a:tc>
                  <a:txBody>
                    <a:bodyPr/>
                    <a:lstStyle/>
                    <a:p>
                      <a:pPr>
                        <a:buNone/>
                      </a:pPr>
                      <a:r>
                        <a:rPr lang="en-IN" dirty="0"/>
                        <a:t>Integration testing, Postman validation and negative test cases</a:t>
                      </a:r>
                    </a:p>
                  </a:txBody>
                  <a:tcPr anchor="ctr"/>
                </a:tc>
                <a:tc>
                  <a:txBody>
                    <a:bodyPr/>
                    <a:lstStyle/>
                    <a:p>
                      <a:pPr>
                        <a:buNone/>
                      </a:pPr>
                      <a:r>
                        <a:rPr lang="en-IN" dirty="0"/>
                        <a:t>Integrated test results</a:t>
                      </a:r>
                    </a:p>
                  </a:txBody>
                  <a:tcPr anchor="ctr"/>
                </a:tc>
                <a:extLst>
                  <a:ext uri="{0D108BD9-81ED-4DB2-BD59-A6C34878D82A}">
                    <a16:rowId xmlns:a16="http://schemas.microsoft.com/office/drawing/2014/main" val="4174267804"/>
                  </a:ext>
                </a:extLst>
              </a:tr>
              <a:tr h="597965">
                <a:tc>
                  <a:txBody>
                    <a:bodyPr/>
                    <a:lstStyle/>
                    <a:p>
                      <a:pPr>
                        <a:buNone/>
                      </a:pPr>
                      <a:r>
                        <a:rPr lang="en-IN" b="1"/>
                        <a:t>Week 11</a:t>
                      </a:r>
                      <a:endParaRPr lang="en-IN"/>
                    </a:p>
                  </a:txBody>
                  <a:tcPr anchor="ctr"/>
                </a:tc>
                <a:tc>
                  <a:txBody>
                    <a:bodyPr/>
                    <a:lstStyle/>
                    <a:p>
                      <a:pPr>
                        <a:buNone/>
                      </a:pPr>
                      <a:r>
                        <a:rPr lang="en-IN" dirty="0"/>
                        <a:t>Security checks, </a:t>
                      </a:r>
                      <a:r>
                        <a:rPr lang="en-IN" dirty="0" err="1"/>
                        <a:t>Semgrep</a:t>
                      </a:r>
                      <a:r>
                        <a:rPr lang="en-IN" dirty="0"/>
                        <a:t>, CI workflow and frontend integration</a:t>
                      </a:r>
                    </a:p>
                  </a:txBody>
                  <a:tcPr anchor="ctr"/>
                </a:tc>
                <a:tc>
                  <a:txBody>
                    <a:bodyPr/>
                    <a:lstStyle/>
                    <a:p>
                      <a:pPr>
                        <a:buNone/>
                      </a:pPr>
                      <a:r>
                        <a:rPr lang="en-IN" dirty="0"/>
                        <a:t>Secure CI-ready build</a:t>
                      </a:r>
                    </a:p>
                  </a:txBody>
                  <a:tcPr anchor="ctr"/>
                </a:tc>
                <a:extLst>
                  <a:ext uri="{0D108BD9-81ED-4DB2-BD59-A6C34878D82A}">
                    <a16:rowId xmlns:a16="http://schemas.microsoft.com/office/drawing/2014/main" val="1893131264"/>
                  </a:ext>
                </a:extLst>
              </a:tr>
              <a:tr h="597965">
                <a:tc>
                  <a:txBody>
                    <a:bodyPr/>
                    <a:lstStyle/>
                    <a:p>
                      <a:pPr>
                        <a:buNone/>
                      </a:pPr>
                      <a:r>
                        <a:rPr lang="en-IN" b="1"/>
                        <a:t>Week 12</a:t>
                      </a:r>
                      <a:endParaRPr lang="en-IN"/>
                    </a:p>
                  </a:txBody>
                  <a:tcPr anchor="ctr"/>
                </a:tc>
                <a:tc>
                  <a:txBody>
                    <a:bodyPr/>
                    <a:lstStyle/>
                    <a:p>
                      <a:pPr>
                        <a:buNone/>
                      </a:pPr>
                      <a:r>
                        <a:rPr lang="en-IN" dirty="0"/>
                        <a:t>Documentation, evidence collection, final testing, demo and viva</a:t>
                      </a:r>
                    </a:p>
                  </a:txBody>
                  <a:tcPr anchor="ctr"/>
                </a:tc>
                <a:tc>
                  <a:txBody>
                    <a:bodyPr/>
                    <a:lstStyle/>
                    <a:p>
                      <a:pPr>
                        <a:buNone/>
                      </a:pPr>
                      <a:r>
                        <a:rPr lang="en-IN" dirty="0"/>
                        <a:t>Final working system + demo</a:t>
                      </a:r>
                    </a:p>
                  </a:txBody>
                  <a:tcPr anchor="ctr"/>
                </a:tc>
                <a:extLst>
                  <a:ext uri="{0D108BD9-81ED-4DB2-BD59-A6C34878D82A}">
                    <a16:rowId xmlns:a16="http://schemas.microsoft.com/office/drawing/2014/main" val="2065197925"/>
                  </a:ext>
                </a:extLst>
              </a:tr>
            </a:tbl>
          </a:graphicData>
        </a:graphic>
      </p:graphicFrame>
    </p:spTree>
    <p:extLst>
      <p:ext uri="{BB962C8B-B14F-4D97-AF65-F5344CB8AC3E}">
        <p14:creationId xmlns:p14="http://schemas.microsoft.com/office/powerpoint/2010/main" val="35294696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TotalTime>
  <Words>811</Words>
  <Application>Microsoft Office PowerPoint</Application>
  <PresentationFormat>Widescreen</PresentationFormat>
  <Paragraphs>171</Paragraphs>
  <Slides>9</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vt:i4>
      </vt:variant>
    </vt:vector>
  </HeadingPairs>
  <TitlesOfParts>
    <vt:vector size="18" baseType="lpstr">
      <vt:lpstr>Aptos</vt:lpstr>
      <vt:lpstr>Aptos Display</vt:lpstr>
      <vt:lpstr>Arial</vt:lpstr>
      <vt:lpstr>Calibri</vt:lpstr>
      <vt:lpstr>Calibri Light</vt:lpstr>
      <vt:lpstr>Montserrat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Raghu Nandan Bheema</cp:lastModifiedBy>
  <cp:revision>37</cp:revision>
  <dcterms:created xsi:type="dcterms:W3CDTF">2026-08-08T06:33:56Z</dcterms:created>
  <dcterms:modified xsi:type="dcterms:W3CDTF">2026-09-26T04:43:12Z</dcterms:modified>
</cp:coreProperties>
</file>